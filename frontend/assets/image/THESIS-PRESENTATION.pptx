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League Spartan" charset="1" panose="00000800000000000000"/>
      <p:regular r:id="rId24"/>
    </p:embeddedFont>
    <p:embeddedFont>
      <p:font typeface="Poppins Bold" charset="1" panose="00000800000000000000"/>
      <p:regular r:id="rId25"/>
    </p:embeddedFont>
    <p:embeddedFont>
      <p:font typeface="Archivo Black" charset="1" panose="020B0A03020202020B04"/>
      <p:regular r:id="rId26"/>
    </p:embeddedFont>
    <p:embeddedFont>
      <p:font typeface="Poppins" charset="1" panose="00000500000000000000"/>
      <p:regular r:id="rId27"/>
    </p:embeddedFont>
    <p:embeddedFont>
      <p:font typeface="Roboto" charset="1" panose="02000000000000000000"/>
      <p:regular r:id="rId28"/>
    </p:embeddedFont>
    <p:embeddedFont>
      <p:font typeface="Roboto Bold" charset="1" panose="02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6.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2598787"/>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02684" y="2598787"/>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7176066" y="314953"/>
            <a:ext cx="1461440" cy="1461440"/>
          </a:xfrm>
          <a:custGeom>
            <a:avLst/>
            <a:gdLst/>
            <a:ahLst/>
            <a:cxnLst/>
            <a:rect r="r" b="b" t="t" l="l"/>
            <a:pathLst>
              <a:path h="1461440" w="1461440">
                <a:moveTo>
                  <a:pt x="0" y="0"/>
                </a:moveTo>
                <a:lnTo>
                  <a:pt x="1461440" y="0"/>
                </a:lnTo>
                <a:lnTo>
                  <a:pt x="1461440" y="1461440"/>
                </a:lnTo>
                <a:lnTo>
                  <a:pt x="0" y="1461440"/>
                </a:lnTo>
                <a:lnTo>
                  <a:pt x="0" y="0"/>
                </a:lnTo>
                <a:close/>
              </a:path>
            </a:pathLst>
          </a:custGeom>
          <a:blipFill>
            <a:blip r:embed="rId3"/>
            <a:stretch>
              <a:fillRect l="0" t="0" r="0" b="0"/>
            </a:stretch>
          </a:blipFill>
        </p:spPr>
      </p:sp>
      <p:sp>
        <p:nvSpPr>
          <p:cNvPr name="Freeform 10" id="10"/>
          <p:cNvSpPr/>
          <p:nvPr/>
        </p:nvSpPr>
        <p:spPr>
          <a:xfrm flipH="false" flipV="false" rot="0">
            <a:off x="8988296" y="382112"/>
            <a:ext cx="1495386" cy="1495386"/>
          </a:xfrm>
          <a:custGeom>
            <a:avLst/>
            <a:gdLst/>
            <a:ahLst/>
            <a:cxnLst/>
            <a:rect r="r" b="b" t="t" l="l"/>
            <a:pathLst>
              <a:path h="1495386" w="1495386">
                <a:moveTo>
                  <a:pt x="0" y="0"/>
                </a:moveTo>
                <a:lnTo>
                  <a:pt x="1495386" y="0"/>
                </a:lnTo>
                <a:lnTo>
                  <a:pt x="1495386" y="1495386"/>
                </a:lnTo>
                <a:lnTo>
                  <a:pt x="0" y="1495386"/>
                </a:lnTo>
                <a:lnTo>
                  <a:pt x="0" y="0"/>
                </a:lnTo>
                <a:close/>
              </a:path>
            </a:pathLst>
          </a:custGeom>
          <a:blipFill>
            <a:blip r:embed="rId4"/>
            <a:stretch>
              <a:fillRect l="0" t="0" r="0" b="0"/>
            </a:stretch>
          </a:blipFill>
        </p:spPr>
      </p:sp>
      <p:sp>
        <p:nvSpPr>
          <p:cNvPr name="TextBox 11" id="11"/>
          <p:cNvSpPr txBox="true"/>
          <p:nvPr/>
        </p:nvSpPr>
        <p:spPr>
          <a:xfrm rot="0">
            <a:off x="2432832" y="2455912"/>
            <a:ext cx="13712317" cy="1326111"/>
          </a:xfrm>
          <a:prstGeom prst="rect">
            <a:avLst/>
          </a:prstGeom>
        </p:spPr>
        <p:txBody>
          <a:bodyPr anchor="t" rtlCol="false" tIns="0" lIns="0" bIns="0" rIns="0">
            <a:spAutoFit/>
          </a:bodyPr>
          <a:lstStyle/>
          <a:p>
            <a:pPr algn="ctr">
              <a:lnSpc>
                <a:spcPts val="10907"/>
              </a:lnSpc>
            </a:pPr>
            <a:r>
              <a:rPr lang="en-US" b="true" sz="7790">
                <a:solidFill>
                  <a:srgbClr val="004AAD"/>
                </a:solidFill>
                <a:latin typeface="League Spartan"/>
                <a:ea typeface="League Spartan"/>
                <a:cs typeface="League Spartan"/>
                <a:sym typeface="League Spartan"/>
              </a:rPr>
              <a:t>THESIS PRESENTATION </a:t>
            </a:r>
          </a:p>
        </p:txBody>
      </p:sp>
      <p:sp>
        <p:nvSpPr>
          <p:cNvPr name="TextBox 12" id="12"/>
          <p:cNvSpPr txBox="true"/>
          <p:nvPr/>
        </p:nvSpPr>
        <p:spPr>
          <a:xfrm rot="0">
            <a:off x="4724883" y="3881265"/>
            <a:ext cx="8526827" cy="4349249"/>
          </a:xfrm>
          <a:prstGeom prst="rect">
            <a:avLst/>
          </a:prstGeom>
        </p:spPr>
        <p:txBody>
          <a:bodyPr anchor="t" rtlCol="false" tIns="0" lIns="0" bIns="0" rIns="0">
            <a:spAutoFit/>
          </a:bodyPr>
          <a:lstStyle/>
          <a:p>
            <a:pPr algn="ctr">
              <a:lnSpc>
                <a:spcPts val="4927"/>
              </a:lnSpc>
            </a:pPr>
            <a:r>
              <a:rPr lang="en-US" sz="3519" b="true">
                <a:solidFill>
                  <a:srgbClr val="303642"/>
                </a:solidFill>
                <a:latin typeface="Poppins Bold"/>
                <a:ea typeface="Poppins Bold"/>
                <a:cs typeface="Poppins Bold"/>
                <a:sym typeface="Poppins Bold"/>
              </a:rPr>
              <a:t>Presented By: </a:t>
            </a:r>
          </a:p>
          <a:p>
            <a:pPr algn="ctr">
              <a:lnSpc>
                <a:spcPts val="4927"/>
              </a:lnSpc>
            </a:pPr>
          </a:p>
          <a:p>
            <a:pPr algn="ctr">
              <a:lnSpc>
                <a:spcPts val="4927"/>
              </a:lnSpc>
            </a:pPr>
            <a:r>
              <a:rPr lang="en-US" sz="3519" b="true">
                <a:solidFill>
                  <a:srgbClr val="303642"/>
                </a:solidFill>
                <a:latin typeface="Poppins Bold"/>
                <a:ea typeface="Poppins Bold"/>
                <a:cs typeface="Poppins Bold"/>
                <a:sym typeface="Poppins Bold"/>
              </a:rPr>
              <a:t>Dayrit, James Christian </a:t>
            </a:r>
          </a:p>
          <a:p>
            <a:pPr algn="ctr">
              <a:lnSpc>
                <a:spcPts val="4927"/>
              </a:lnSpc>
            </a:pPr>
            <a:r>
              <a:rPr lang="en-US" sz="3519" b="true">
                <a:solidFill>
                  <a:srgbClr val="303642"/>
                </a:solidFill>
                <a:latin typeface="Poppins Bold"/>
                <a:ea typeface="Poppins Bold"/>
                <a:cs typeface="Poppins Bold"/>
                <a:sym typeface="Poppins Bold"/>
              </a:rPr>
              <a:t>Bautista, Jon Allain</a:t>
            </a:r>
          </a:p>
          <a:p>
            <a:pPr algn="ctr">
              <a:lnSpc>
                <a:spcPts val="4927"/>
              </a:lnSpc>
            </a:pPr>
            <a:r>
              <a:rPr lang="en-US" sz="3519" b="true">
                <a:solidFill>
                  <a:srgbClr val="303642"/>
                </a:solidFill>
                <a:latin typeface="Poppins Bold"/>
                <a:ea typeface="Poppins Bold"/>
                <a:cs typeface="Poppins Bold"/>
                <a:sym typeface="Poppins Bold"/>
              </a:rPr>
              <a:t>Pamisaran, Ricky</a:t>
            </a:r>
          </a:p>
          <a:p>
            <a:pPr algn="ctr">
              <a:lnSpc>
                <a:spcPts val="4927"/>
              </a:lnSpc>
            </a:pPr>
            <a:r>
              <a:rPr lang="en-US" sz="3519" b="true">
                <a:solidFill>
                  <a:srgbClr val="303642"/>
                </a:solidFill>
                <a:latin typeface="Poppins Bold"/>
                <a:ea typeface="Poppins Bold"/>
                <a:cs typeface="Poppins Bold"/>
                <a:sym typeface="Poppins Bold"/>
              </a:rPr>
              <a:t>Ramilla, Razel Anne </a:t>
            </a:r>
          </a:p>
          <a:p>
            <a:pPr algn="ctr">
              <a:lnSpc>
                <a:spcPts val="4927"/>
              </a:lnSpc>
              <a:spcBef>
                <a:spcPct val="0"/>
              </a:spcBef>
            </a:pPr>
            <a:r>
              <a:rPr lang="en-US" b="true" sz="3519">
                <a:solidFill>
                  <a:srgbClr val="303642"/>
                </a:solidFill>
                <a:latin typeface="Poppins Bold"/>
                <a:ea typeface="Poppins Bold"/>
                <a:cs typeface="Poppins Bold"/>
                <a:sym typeface="Poppins Bold"/>
              </a:rPr>
              <a:t>Reyes, Angela</a:t>
            </a:r>
          </a:p>
        </p:txBody>
      </p:sp>
      <p:sp>
        <p:nvSpPr>
          <p:cNvPr name="TextBox 13" id="13"/>
          <p:cNvSpPr txBox="true"/>
          <p:nvPr/>
        </p:nvSpPr>
        <p:spPr>
          <a:xfrm rot="0">
            <a:off x="2688798" y="8887739"/>
            <a:ext cx="13200383" cy="457747"/>
          </a:xfrm>
          <a:prstGeom prst="rect">
            <a:avLst/>
          </a:prstGeom>
        </p:spPr>
        <p:txBody>
          <a:bodyPr anchor="t" rtlCol="false" tIns="0" lIns="0" bIns="0" rIns="0">
            <a:spAutoFit/>
          </a:bodyPr>
          <a:lstStyle/>
          <a:p>
            <a:pPr algn="ctr">
              <a:lnSpc>
                <a:spcPts val="3644"/>
              </a:lnSpc>
            </a:pPr>
            <a:r>
              <a:rPr lang="en-US" b="true" sz="2603">
                <a:solidFill>
                  <a:srgbClr val="303642"/>
                </a:solidFill>
                <a:latin typeface="Poppins Bold"/>
                <a:ea typeface="Poppins Bold"/>
                <a:cs typeface="Poppins Bold"/>
                <a:sym typeface="Poppins Bold"/>
              </a:rPr>
              <a:t>COURSE AND SECTION: BACHELOR OF SCIENCE IN COMPUTER SCIENCE / BC7DC</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393594" y="2533546"/>
            <a:ext cx="13712317" cy="5721579"/>
          </a:xfrm>
          <a:prstGeom prst="rect">
            <a:avLst/>
          </a:prstGeom>
        </p:spPr>
        <p:txBody>
          <a:bodyPr anchor="t" rtlCol="false" tIns="0" lIns="0" bIns="0" rIns="0">
            <a:spAutoFit/>
          </a:bodyPr>
          <a:lstStyle/>
          <a:p>
            <a:pPr algn="ctr">
              <a:lnSpc>
                <a:spcPts val="9087"/>
              </a:lnSpc>
            </a:pPr>
            <a:r>
              <a:rPr lang="en-US" b="true" sz="6491">
                <a:solidFill>
                  <a:srgbClr val="004AAD"/>
                </a:solidFill>
                <a:latin typeface="League Spartan"/>
                <a:ea typeface="League Spartan"/>
                <a:cs typeface="League Spartan"/>
                <a:sym typeface="League Spartan"/>
              </a:rPr>
              <a:t>SMART SMS AND EMAIL  REMINDER WITH TIME-BASED TRIGGER FOR VETERINARY CLINIC FOLLOW-UP APPOINTMENT</a:t>
            </a:r>
          </a:p>
        </p:txBody>
      </p:sp>
      <p:grpSp>
        <p:nvGrpSpPr>
          <p:cNvPr name="Group 4" id="4"/>
          <p:cNvGrpSpPr/>
          <p:nvPr/>
        </p:nvGrpSpPr>
        <p:grpSpPr>
          <a:xfrm rot="0">
            <a:off x="-1130300" y="4057750"/>
            <a:ext cx="3086100" cy="2171499"/>
            <a:chOff x="0" y="0"/>
            <a:chExt cx="812800" cy="571917"/>
          </a:xfrm>
        </p:grpSpPr>
        <p:sp>
          <p:nvSpPr>
            <p:cNvPr name="Freeform 5" id="5"/>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6" id="6"/>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6467343" y="4057750"/>
            <a:ext cx="3086100" cy="2171499"/>
            <a:chOff x="0" y="0"/>
            <a:chExt cx="812800" cy="571917"/>
          </a:xfrm>
        </p:grpSpPr>
        <p:sp>
          <p:nvSpPr>
            <p:cNvPr name="Freeform 8" id="8"/>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9" id="9"/>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7363034" y="291122"/>
            <a:ext cx="1475157" cy="1475157"/>
          </a:xfrm>
          <a:custGeom>
            <a:avLst/>
            <a:gdLst/>
            <a:ahLst/>
            <a:cxnLst/>
            <a:rect r="r" b="b" t="t" l="l"/>
            <a:pathLst>
              <a:path h="1475157" w="1475157">
                <a:moveTo>
                  <a:pt x="0" y="0"/>
                </a:moveTo>
                <a:lnTo>
                  <a:pt x="1475157" y="0"/>
                </a:lnTo>
                <a:lnTo>
                  <a:pt x="1475157" y="1475156"/>
                </a:lnTo>
                <a:lnTo>
                  <a:pt x="0" y="1475156"/>
                </a:lnTo>
                <a:lnTo>
                  <a:pt x="0" y="0"/>
                </a:lnTo>
                <a:close/>
              </a:path>
            </a:pathLst>
          </a:custGeom>
          <a:blipFill>
            <a:blip r:embed="rId3"/>
            <a:stretch>
              <a:fillRect l="0" t="0" r="0" b="0"/>
            </a:stretch>
          </a:blipFill>
        </p:spPr>
      </p:sp>
      <p:sp>
        <p:nvSpPr>
          <p:cNvPr name="Freeform 11" id="11"/>
          <p:cNvSpPr/>
          <p:nvPr/>
        </p:nvSpPr>
        <p:spPr>
          <a:xfrm flipH="false" flipV="false" rot="0">
            <a:off x="9249753" y="270033"/>
            <a:ext cx="1517334" cy="1517334"/>
          </a:xfrm>
          <a:custGeom>
            <a:avLst/>
            <a:gdLst/>
            <a:ahLst/>
            <a:cxnLst/>
            <a:rect r="r" b="b" t="t" l="l"/>
            <a:pathLst>
              <a:path h="1517334" w="1517334">
                <a:moveTo>
                  <a:pt x="0" y="0"/>
                </a:moveTo>
                <a:lnTo>
                  <a:pt x="1517334" y="0"/>
                </a:lnTo>
                <a:lnTo>
                  <a:pt x="1517334" y="1517334"/>
                </a:lnTo>
                <a:lnTo>
                  <a:pt x="0" y="1517334"/>
                </a:lnTo>
                <a:lnTo>
                  <a:pt x="0" y="0"/>
                </a:lnTo>
                <a:close/>
              </a:path>
            </a:pathLst>
          </a:custGeom>
          <a:blipFill>
            <a:blip r:embed="rId4"/>
            <a:stretch>
              <a:fillRect l="0" t="0" r="0" b="0"/>
            </a:stretch>
          </a:blipFill>
        </p:spPr>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725391"/>
            <a:chOff x="0" y="0"/>
            <a:chExt cx="4816593" cy="454424"/>
          </a:xfrm>
        </p:grpSpPr>
        <p:sp>
          <p:nvSpPr>
            <p:cNvPr name="Freeform 4" id="4"/>
            <p:cNvSpPr/>
            <p:nvPr/>
          </p:nvSpPr>
          <p:spPr>
            <a:xfrm flipH="false" flipV="false" rot="0">
              <a:off x="0" y="0"/>
              <a:ext cx="4816592" cy="454424"/>
            </a:xfrm>
            <a:custGeom>
              <a:avLst/>
              <a:gdLst/>
              <a:ahLst/>
              <a:cxnLst/>
              <a:rect r="r" b="b" t="t" l="l"/>
              <a:pathLst>
                <a:path h="454424" w="4816592">
                  <a:moveTo>
                    <a:pt x="0" y="0"/>
                  </a:moveTo>
                  <a:lnTo>
                    <a:pt x="4816592" y="0"/>
                  </a:lnTo>
                  <a:lnTo>
                    <a:pt x="4816592" y="454424"/>
                  </a:lnTo>
                  <a:lnTo>
                    <a:pt x="0" y="454424"/>
                  </a:lnTo>
                  <a:close/>
                </a:path>
              </a:pathLst>
            </a:custGeom>
            <a:solidFill>
              <a:srgbClr val="004AAD"/>
            </a:solidFill>
          </p:spPr>
        </p:sp>
        <p:sp>
          <p:nvSpPr>
            <p:cNvPr name="TextBox 5" id="5"/>
            <p:cNvSpPr txBox="true"/>
            <p:nvPr/>
          </p:nvSpPr>
          <p:spPr>
            <a:xfrm>
              <a:off x="0" y="-47625"/>
              <a:ext cx="4816593" cy="502049"/>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99655" y="-575746"/>
            <a:ext cx="897167" cy="1604446"/>
            <a:chOff x="0" y="0"/>
            <a:chExt cx="236291" cy="422570"/>
          </a:xfrm>
        </p:grpSpPr>
        <p:sp>
          <p:nvSpPr>
            <p:cNvPr name="Freeform 7" id="7"/>
            <p:cNvSpPr/>
            <p:nvPr/>
          </p:nvSpPr>
          <p:spPr>
            <a:xfrm flipH="false" flipV="false" rot="0">
              <a:off x="0" y="0"/>
              <a:ext cx="236291" cy="422570"/>
            </a:xfrm>
            <a:custGeom>
              <a:avLst/>
              <a:gdLst/>
              <a:ahLst/>
              <a:cxnLst/>
              <a:rect r="r" b="b" t="t" l="l"/>
              <a:pathLst>
                <a:path h="422570" w="236291">
                  <a:moveTo>
                    <a:pt x="118145" y="0"/>
                  </a:moveTo>
                  <a:lnTo>
                    <a:pt x="118145" y="0"/>
                  </a:lnTo>
                  <a:cubicBezTo>
                    <a:pt x="183395" y="0"/>
                    <a:pt x="236291" y="52895"/>
                    <a:pt x="236291" y="118145"/>
                  </a:cubicBezTo>
                  <a:lnTo>
                    <a:pt x="236291" y="304425"/>
                  </a:lnTo>
                  <a:cubicBezTo>
                    <a:pt x="236291" y="335759"/>
                    <a:pt x="223843" y="365810"/>
                    <a:pt x="201687" y="387966"/>
                  </a:cubicBezTo>
                  <a:cubicBezTo>
                    <a:pt x="179530" y="410123"/>
                    <a:pt x="149480" y="422570"/>
                    <a:pt x="118145" y="422570"/>
                  </a:cubicBezTo>
                  <a:lnTo>
                    <a:pt x="118145" y="422570"/>
                  </a:lnTo>
                  <a:cubicBezTo>
                    <a:pt x="86811" y="422570"/>
                    <a:pt x="56761" y="410123"/>
                    <a:pt x="34604" y="387966"/>
                  </a:cubicBezTo>
                  <a:cubicBezTo>
                    <a:pt x="12447" y="365810"/>
                    <a:pt x="0" y="335759"/>
                    <a:pt x="0" y="30442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8" id="8"/>
            <p:cNvSpPr txBox="true"/>
            <p:nvPr/>
          </p:nvSpPr>
          <p:spPr>
            <a:xfrm>
              <a:off x="0" y="-47625"/>
              <a:ext cx="236291" cy="47019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6503296" y="425199"/>
            <a:ext cx="6024413" cy="779742"/>
          </a:xfrm>
          <a:prstGeom prst="rect">
            <a:avLst/>
          </a:prstGeom>
        </p:spPr>
        <p:txBody>
          <a:bodyPr anchor="t" rtlCol="false" tIns="0" lIns="0" bIns="0" rIns="0">
            <a:spAutoFit/>
          </a:bodyPr>
          <a:lstStyle/>
          <a:p>
            <a:pPr algn="l">
              <a:lnSpc>
                <a:spcPts val="6372"/>
              </a:lnSpc>
            </a:pPr>
            <a:r>
              <a:rPr lang="en-US" sz="4551">
                <a:solidFill>
                  <a:srgbClr val="FFFFFF"/>
                </a:solidFill>
                <a:latin typeface="Archivo Black"/>
                <a:ea typeface="Archivo Black"/>
                <a:cs typeface="Archivo Black"/>
                <a:sym typeface="Archivo Black"/>
              </a:rPr>
              <a:t>INTRODUCTION</a:t>
            </a:r>
          </a:p>
        </p:txBody>
      </p:sp>
      <p:sp>
        <p:nvSpPr>
          <p:cNvPr name="TextBox 10" id="10"/>
          <p:cNvSpPr txBox="true"/>
          <p:nvPr/>
        </p:nvSpPr>
        <p:spPr>
          <a:xfrm rot="0">
            <a:off x="155230" y="2004960"/>
            <a:ext cx="17977541" cy="4275464"/>
          </a:xfrm>
          <a:prstGeom prst="rect">
            <a:avLst/>
          </a:prstGeom>
        </p:spPr>
        <p:txBody>
          <a:bodyPr anchor="t" rtlCol="false" tIns="0" lIns="0" bIns="0" rIns="0">
            <a:spAutoFit/>
          </a:bodyPr>
          <a:lstStyle/>
          <a:p>
            <a:pPr algn="l">
              <a:lnSpc>
                <a:spcPts val="3656"/>
              </a:lnSpc>
            </a:pPr>
            <a:r>
              <a:rPr lang="en-US" sz="2611">
                <a:solidFill>
                  <a:srgbClr val="000000"/>
                </a:solidFill>
                <a:latin typeface="Poppins"/>
                <a:ea typeface="Poppins"/>
                <a:cs typeface="Poppins"/>
                <a:sym typeface="Poppins"/>
              </a:rPr>
              <a:t> Regular veterinary visits are important for maintaining pet health, but many appointments are missed due to forgotten schedules. Veterinary clinics often use manual reminder methods, which are inefficient and prone to errors, affecting clinic operations, client compliance, and pet care quality. Using SMS and Email as reminder tools is reliable and cost-effective, and implementing a Smart SMS and Email Reminder System with time-based triggers can automate reminders, reduce missed appointments, improve communication, and enhance overall animal welfare.</a:t>
            </a:r>
          </a:p>
          <a:p>
            <a:pPr algn="l">
              <a:lnSpc>
                <a:spcPts val="3656"/>
              </a:lnSpc>
            </a:pPr>
          </a:p>
          <a:p>
            <a:pPr algn="l">
              <a:lnSpc>
                <a:spcPts val="3656"/>
              </a:lnSpc>
              <a:spcBef>
                <a:spcPct val="0"/>
              </a:spcBef>
            </a:pPr>
            <a:r>
              <a:rPr lang="en-US" sz="2611">
                <a:solidFill>
                  <a:srgbClr val="000000"/>
                </a:solidFill>
                <a:latin typeface="Poppins"/>
                <a:ea typeface="Poppins"/>
                <a:cs typeface="Poppins"/>
                <a:sym typeface="Poppins"/>
              </a:rPr>
              <a:t>Although automated reminder systems are effective in human healthcare for reducing missed appointments and improving service efficiency, their implementation in veterinary clinics remains limited. Research on the implementation of SMS and Email reminders with time-based triggers specifically for veterinary care is insufficient. This gap highlights the need to study how the implementation of automated reminder systems can improve appointment management, workflow efficiency, client compliance, and communication in veterinary practices.</a:t>
            </a:r>
          </a:p>
        </p:txBody>
      </p:sp>
      <p:grpSp>
        <p:nvGrpSpPr>
          <p:cNvPr name="Group 11" id="11"/>
          <p:cNvGrpSpPr/>
          <p:nvPr/>
        </p:nvGrpSpPr>
        <p:grpSpPr>
          <a:xfrm rot="0">
            <a:off x="16863925" y="-575746"/>
            <a:ext cx="897167" cy="1604446"/>
            <a:chOff x="0" y="0"/>
            <a:chExt cx="236291" cy="422570"/>
          </a:xfrm>
        </p:grpSpPr>
        <p:sp>
          <p:nvSpPr>
            <p:cNvPr name="Freeform 12" id="12"/>
            <p:cNvSpPr/>
            <p:nvPr/>
          </p:nvSpPr>
          <p:spPr>
            <a:xfrm flipH="false" flipV="false" rot="0">
              <a:off x="0" y="0"/>
              <a:ext cx="236291" cy="422570"/>
            </a:xfrm>
            <a:custGeom>
              <a:avLst/>
              <a:gdLst/>
              <a:ahLst/>
              <a:cxnLst/>
              <a:rect r="r" b="b" t="t" l="l"/>
              <a:pathLst>
                <a:path h="422570" w="236291">
                  <a:moveTo>
                    <a:pt x="118145" y="0"/>
                  </a:moveTo>
                  <a:lnTo>
                    <a:pt x="118145" y="0"/>
                  </a:lnTo>
                  <a:cubicBezTo>
                    <a:pt x="183395" y="0"/>
                    <a:pt x="236291" y="52895"/>
                    <a:pt x="236291" y="118145"/>
                  </a:cubicBezTo>
                  <a:lnTo>
                    <a:pt x="236291" y="304425"/>
                  </a:lnTo>
                  <a:cubicBezTo>
                    <a:pt x="236291" y="335759"/>
                    <a:pt x="223843" y="365810"/>
                    <a:pt x="201687" y="387966"/>
                  </a:cubicBezTo>
                  <a:cubicBezTo>
                    <a:pt x="179530" y="410123"/>
                    <a:pt x="149480" y="422570"/>
                    <a:pt x="118145" y="422570"/>
                  </a:cubicBezTo>
                  <a:lnTo>
                    <a:pt x="118145" y="422570"/>
                  </a:lnTo>
                  <a:cubicBezTo>
                    <a:pt x="86811" y="422570"/>
                    <a:pt x="56761" y="410123"/>
                    <a:pt x="34604" y="387966"/>
                  </a:cubicBezTo>
                  <a:cubicBezTo>
                    <a:pt x="12447" y="365810"/>
                    <a:pt x="0" y="335759"/>
                    <a:pt x="0" y="30442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13" id="13"/>
            <p:cNvSpPr txBox="true"/>
            <p:nvPr/>
          </p:nvSpPr>
          <p:spPr>
            <a:xfrm>
              <a:off x="0" y="-47625"/>
              <a:ext cx="236291" cy="470195"/>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0" y="9540504"/>
            <a:ext cx="18288000" cy="1725391"/>
            <a:chOff x="0" y="0"/>
            <a:chExt cx="4816593" cy="454424"/>
          </a:xfrm>
        </p:grpSpPr>
        <p:sp>
          <p:nvSpPr>
            <p:cNvPr name="Freeform 15" id="15"/>
            <p:cNvSpPr/>
            <p:nvPr/>
          </p:nvSpPr>
          <p:spPr>
            <a:xfrm flipH="false" flipV="false" rot="0">
              <a:off x="0" y="0"/>
              <a:ext cx="4816592" cy="454424"/>
            </a:xfrm>
            <a:custGeom>
              <a:avLst/>
              <a:gdLst/>
              <a:ahLst/>
              <a:cxnLst/>
              <a:rect r="r" b="b" t="t" l="l"/>
              <a:pathLst>
                <a:path h="454424" w="4816592">
                  <a:moveTo>
                    <a:pt x="0" y="0"/>
                  </a:moveTo>
                  <a:lnTo>
                    <a:pt x="4816592" y="0"/>
                  </a:lnTo>
                  <a:lnTo>
                    <a:pt x="4816592" y="454424"/>
                  </a:lnTo>
                  <a:lnTo>
                    <a:pt x="0" y="454424"/>
                  </a:lnTo>
                  <a:close/>
                </a:path>
              </a:pathLst>
            </a:custGeom>
            <a:solidFill>
              <a:srgbClr val="004AAD"/>
            </a:solidFill>
          </p:spPr>
        </p:sp>
        <p:sp>
          <p:nvSpPr>
            <p:cNvPr name="TextBox 16" id="16"/>
            <p:cNvSpPr txBox="true"/>
            <p:nvPr/>
          </p:nvSpPr>
          <p:spPr>
            <a:xfrm>
              <a:off x="0" y="-47625"/>
              <a:ext cx="4816593" cy="502049"/>
            </a:xfrm>
            <a:prstGeom prst="rect">
              <a:avLst/>
            </a:prstGeom>
          </p:spPr>
          <p:txBody>
            <a:bodyPr anchor="ctr" rtlCol="false" tIns="50800" lIns="50800" bIns="50800" rIns="50800"/>
            <a:lstStyle/>
            <a:p>
              <a:pPr algn="ctr">
                <a:lnSpc>
                  <a:spcPts val="2659"/>
                </a:lnSpc>
              </a:pPr>
            </a:p>
          </p:txBody>
        </p:sp>
      </p:gr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2234111"/>
            <a:ext cx="18802350" cy="1336021"/>
            <a:chOff x="0" y="0"/>
            <a:chExt cx="4952059" cy="351874"/>
          </a:xfrm>
        </p:grpSpPr>
        <p:sp>
          <p:nvSpPr>
            <p:cNvPr name="Freeform 4" id="4"/>
            <p:cNvSpPr/>
            <p:nvPr/>
          </p:nvSpPr>
          <p:spPr>
            <a:xfrm flipH="false" flipV="false" rot="0">
              <a:off x="0" y="0"/>
              <a:ext cx="4952059" cy="351874"/>
            </a:xfrm>
            <a:custGeom>
              <a:avLst/>
              <a:gdLst/>
              <a:ahLst/>
              <a:cxnLst/>
              <a:rect r="r" b="b" t="t" l="l"/>
              <a:pathLst>
                <a:path h="351874" w="4952059">
                  <a:moveTo>
                    <a:pt x="20999" y="0"/>
                  </a:moveTo>
                  <a:lnTo>
                    <a:pt x="4931060" y="0"/>
                  </a:lnTo>
                  <a:cubicBezTo>
                    <a:pt x="4936629" y="0"/>
                    <a:pt x="4941970" y="2212"/>
                    <a:pt x="4945909" y="6151"/>
                  </a:cubicBezTo>
                  <a:cubicBezTo>
                    <a:pt x="4949847" y="10089"/>
                    <a:pt x="4952059" y="15430"/>
                    <a:pt x="4952059" y="20999"/>
                  </a:cubicBezTo>
                  <a:lnTo>
                    <a:pt x="4952059" y="330874"/>
                  </a:lnTo>
                  <a:cubicBezTo>
                    <a:pt x="4952059" y="342472"/>
                    <a:pt x="4942658" y="351874"/>
                    <a:pt x="4931060" y="351874"/>
                  </a:cubicBezTo>
                  <a:lnTo>
                    <a:pt x="20999" y="351874"/>
                  </a:lnTo>
                  <a:cubicBezTo>
                    <a:pt x="15430" y="351874"/>
                    <a:pt x="10089" y="349661"/>
                    <a:pt x="6151" y="345723"/>
                  </a:cubicBezTo>
                  <a:cubicBezTo>
                    <a:pt x="2212" y="341785"/>
                    <a:pt x="0" y="336444"/>
                    <a:pt x="0" y="330874"/>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39949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910582" y="128804"/>
            <a:ext cx="6756386" cy="1973812"/>
          </a:xfrm>
          <a:prstGeom prst="rect">
            <a:avLst/>
          </a:prstGeom>
        </p:spPr>
        <p:txBody>
          <a:bodyPr anchor="t" rtlCol="false" tIns="0" lIns="0" bIns="0" rIns="0">
            <a:spAutoFit/>
          </a:bodyPr>
          <a:lstStyle/>
          <a:p>
            <a:pPr algn="ctr">
              <a:lnSpc>
                <a:spcPts val="7940"/>
              </a:lnSpc>
            </a:pPr>
            <a:r>
              <a:rPr lang="en-US" b="true" sz="5672">
                <a:solidFill>
                  <a:srgbClr val="004AAD"/>
                </a:solidFill>
                <a:latin typeface="League Spartan"/>
                <a:ea typeface="League Spartan"/>
                <a:cs typeface="League Spartan"/>
                <a:sym typeface="League Spartan"/>
              </a:rPr>
              <a:t>BACKGROUND OF THE STUDY </a:t>
            </a:r>
          </a:p>
        </p:txBody>
      </p:sp>
      <p:sp>
        <p:nvSpPr>
          <p:cNvPr name="TextBox 7" id="7"/>
          <p:cNvSpPr txBox="true"/>
          <p:nvPr/>
        </p:nvSpPr>
        <p:spPr>
          <a:xfrm rot="0">
            <a:off x="329154" y="3850216"/>
            <a:ext cx="17629692" cy="6019920"/>
          </a:xfrm>
          <a:prstGeom prst="rect">
            <a:avLst/>
          </a:prstGeom>
        </p:spPr>
        <p:txBody>
          <a:bodyPr anchor="t" rtlCol="false" tIns="0" lIns="0" bIns="0" rIns="0">
            <a:spAutoFit/>
          </a:bodyPr>
          <a:lstStyle/>
          <a:p>
            <a:pPr algn="just">
              <a:lnSpc>
                <a:spcPts val="4759"/>
              </a:lnSpc>
            </a:pPr>
            <a:r>
              <a:rPr lang="en-US" sz="3399">
                <a:solidFill>
                  <a:srgbClr val="000000"/>
                </a:solidFill>
                <a:latin typeface="Poppins"/>
                <a:ea typeface="Poppins"/>
                <a:cs typeface="Poppins"/>
                <a:sym typeface="Poppins"/>
              </a:rPr>
              <a:t>The Smart SMS and Email Reminder with Time-Based Trigger is designed to improve pet healthcare by reducing missed veterinary follow-up appointments. Manual reminder methods used by veterinary clinics are time-consuming, prone to errors, and difficult to manage due to limited staff and high patient volume. </a:t>
            </a:r>
          </a:p>
          <a:p>
            <a:pPr algn="just">
              <a:lnSpc>
                <a:spcPts val="4759"/>
              </a:lnSpc>
            </a:pPr>
          </a:p>
          <a:p>
            <a:pPr algn="just">
              <a:lnSpc>
                <a:spcPts val="4759"/>
              </a:lnSpc>
              <a:spcBef>
                <a:spcPct val="0"/>
              </a:spcBef>
            </a:pPr>
            <a:r>
              <a:rPr lang="en-US" sz="3399">
                <a:solidFill>
                  <a:srgbClr val="000000"/>
                </a:solidFill>
                <a:latin typeface="Poppins"/>
                <a:ea typeface="Poppins"/>
                <a:cs typeface="Poppins"/>
                <a:sym typeface="Poppins"/>
              </a:rPr>
              <a:t>Automated SMS and Email reminders can effectively notify pet owners in advance, increase attendance rates, improve workflow efficiency, and allow veterinary staff to focus more on animal care. This system demonstrates how technology can enhance service quality, communication, and overall pet health management in veterinary clinics.</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908043" y="0"/>
            <a:ext cx="6379957" cy="10287000"/>
            <a:chOff x="0" y="0"/>
            <a:chExt cx="1680318" cy="2709333"/>
          </a:xfrm>
        </p:grpSpPr>
        <p:sp>
          <p:nvSpPr>
            <p:cNvPr name="Freeform 4" id="4"/>
            <p:cNvSpPr/>
            <p:nvPr/>
          </p:nvSpPr>
          <p:spPr>
            <a:xfrm flipH="false" flipV="false" rot="0">
              <a:off x="0" y="0"/>
              <a:ext cx="1680318" cy="2709333"/>
            </a:xfrm>
            <a:custGeom>
              <a:avLst/>
              <a:gdLst/>
              <a:ahLst/>
              <a:cxnLst/>
              <a:rect r="r" b="b" t="t" l="l"/>
              <a:pathLst>
                <a:path h="2709333" w="1680318">
                  <a:moveTo>
                    <a:pt x="0" y="0"/>
                  </a:moveTo>
                  <a:lnTo>
                    <a:pt x="1680318" y="0"/>
                  </a:lnTo>
                  <a:lnTo>
                    <a:pt x="1680318" y="2709333"/>
                  </a:lnTo>
                  <a:lnTo>
                    <a:pt x="0" y="2709333"/>
                  </a:lnTo>
                  <a:close/>
                </a:path>
              </a:pathLst>
            </a:custGeom>
            <a:solidFill>
              <a:srgbClr val="004AAD"/>
            </a:solidFill>
          </p:spPr>
        </p:sp>
        <p:sp>
          <p:nvSpPr>
            <p:cNvPr name="TextBox 5" id="5"/>
            <p:cNvSpPr txBox="true"/>
            <p:nvPr/>
          </p:nvSpPr>
          <p:spPr>
            <a:xfrm>
              <a:off x="0" y="-47625"/>
              <a:ext cx="1680318"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640583" y="455230"/>
            <a:ext cx="1622464" cy="162246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70541" y="2006345"/>
            <a:ext cx="1601933" cy="6466659"/>
            <a:chOff x="0" y="0"/>
            <a:chExt cx="421908" cy="1703153"/>
          </a:xfrm>
        </p:grpSpPr>
        <p:sp>
          <p:nvSpPr>
            <p:cNvPr name="Freeform 10" id="10"/>
            <p:cNvSpPr/>
            <p:nvPr/>
          </p:nvSpPr>
          <p:spPr>
            <a:xfrm flipH="false" flipV="false" rot="0">
              <a:off x="0" y="0"/>
              <a:ext cx="421908" cy="1703153"/>
            </a:xfrm>
            <a:custGeom>
              <a:avLst/>
              <a:gdLst/>
              <a:ahLst/>
              <a:cxnLst/>
              <a:rect r="r" b="b" t="t" l="l"/>
              <a:pathLst>
                <a:path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11" id="11"/>
            <p:cNvSpPr txBox="true"/>
            <p:nvPr/>
          </p:nvSpPr>
          <p:spPr>
            <a:xfrm>
              <a:off x="0" y="-47625"/>
              <a:ext cx="421908" cy="1750778"/>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904748" y="469263"/>
            <a:ext cx="4354552" cy="1411567"/>
          </a:xfrm>
          <a:prstGeom prst="rect">
            <a:avLst/>
          </a:prstGeom>
        </p:spPr>
        <p:txBody>
          <a:bodyPr anchor="t" rtlCol="false" tIns="0" lIns="0" bIns="0" rIns="0">
            <a:spAutoFit/>
          </a:bodyPr>
          <a:lstStyle/>
          <a:p>
            <a:pPr algn="ctr">
              <a:lnSpc>
                <a:spcPts val="5672"/>
              </a:lnSpc>
            </a:pPr>
            <a:r>
              <a:rPr lang="en-US" sz="4051">
                <a:solidFill>
                  <a:srgbClr val="F3F3F3"/>
                </a:solidFill>
                <a:latin typeface="Roboto"/>
                <a:ea typeface="Roboto"/>
                <a:cs typeface="Roboto"/>
                <a:sym typeface="Roboto"/>
              </a:rPr>
              <a:t>STATEMENT OF THE PROBLEM </a:t>
            </a:r>
          </a:p>
        </p:txBody>
      </p:sp>
      <p:sp>
        <p:nvSpPr>
          <p:cNvPr name="TextBox 13" id="13"/>
          <p:cNvSpPr txBox="true"/>
          <p:nvPr/>
        </p:nvSpPr>
        <p:spPr>
          <a:xfrm rot="0">
            <a:off x="10707465" y="645175"/>
            <a:ext cx="1507749" cy="1222255"/>
          </a:xfrm>
          <a:prstGeom prst="rect">
            <a:avLst/>
          </a:prstGeom>
        </p:spPr>
        <p:txBody>
          <a:bodyPr anchor="t" rtlCol="false" tIns="0" lIns="0" bIns="0" rIns="0">
            <a:spAutoFit/>
          </a:bodyPr>
          <a:lstStyle/>
          <a:p>
            <a:pPr algn="ctr">
              <a:lnSpc>
                <a:spcPts val="10122"/>
              </a:lnSpc>
            </a:pPr>
            <a:r>
              <a:rPr lang="en-US" sz="7230">
                <a:solidFill>
                  <a:srgbClr val="000000"/>
                </a:solidFill>
                <a:latin typeface="League Spartan"/>
                <a:ea typeface="League Spartan"/>
                <a:cs typeface="League Spartan"/>
                <a:sym typeface="League Spartan"/>
              </a:rPr>
              <a:t>1</a:t>
            </a:r>
          </a:p>
        </p:txBody>
      </p:sp>
      <p:sp>
        <p:nvSpPr>
          <p:cNvPr name="TextBox 14" id="14"/>
          <p:cNvSpPr txBox="true"/>
          <p:nvPr/>
        </p:nvSpPr>
        <p:spPr>
          <a:xfrm rot="0">
            <a:off x="4275832" y="762585"/>
            <a:ext cx="5948366" cy="1118245"/>
          </a:xfrm>
          <a:prstGeom prst="rect">
            <a:avLst/>
          </a:prstGeom>
        </p:spPr>
        <p:txBody>
          <a:bodyPr anchor="t" rtlCol="false" tIns="0" lIns="0" bIns="0" rIns="0">
            <a:spAutoFit/>
          </a:bodyPr>
          <a:lstStyle/>
          <a:p>
            <a:pPr algn="just">
              <a:lnSpc>
                <a:spcPts val="2939"/>
              </a:lnSpc>
              <a:spcBef>
                <a:spcPct val="0"/>
              </a:spcBef>
            </a:pPr>
            <a:r>
              <a:rPr lang="en-US" sz="2099">
                <a:solidFill>
                  <a:srgbClr val="000000"/>
                </a:solidFill>
                <a:latin typeface="Poppins"/>
                <a:ea typeface="Poppins"/>
                <a:cs typeface="Poppins"/>
                <a:sym typeface="Poppins"/>
              </a:rPr>
              <a:t>What problems and inefficiencies do veterinary clinics currently face in their reminder and follow-up processes?</a:t>
            </a:r>
          </a:p>
        </p:txBody>
      </p:sp>
      <p:sp>
        <p:nvSpPr>
          <p:cNvPr name="TextBox 15" id="15"/>
          <p:cNvSpPr txBox="true"/>
          <p:nvPr/>
        </p:nvSpPr>
        <p:spPr>
          <a:xfrm rot="0">
            <a:off x="4275832" y="2527591"/>
            <a:ext cx="5948366" cy="1489720"/>
          </a:xfrm>
          <a:prstGeom prst="rect">
            <a:avLst/>
          </a:prstGeom>
        </p:spPr>
        <p:txBody>
          <a:bodyPr anchor="t" rtlCol="false" tIns="0" lIns="0" bIns="0" rIns="0">
            <a:spAutoFit/>
          </a:bodyPr>
          <a:lstStyle/>
          <a:p>
            <a:pPr algn="just">
              <a:lnSpc>
                <a:spcPts val="2939"/>
              </a:lnSpc>
              <a:spcBef>
                <a:spcPct val="0"/>
              </a:spcBef>
            </a:pPr>
            <a:r>
              <a:rPr lang="en-US" sz="2099">
                <a:solidFill>
                  <a:srgbClr val="000000"/>
                </a:solidFill>
                <a:latin typeface="Poppins"/>
                <a:ea typeface="Poppins"/>
                <a:cs typeface="Poppins"/>
                <a:sym typeface="Poppins"/>
              </a:rPr>
              <a:t> What system features could be developed that can help to automate the SMS and email reminders for pet owners based on their pet's scheduled follow-up treatments? </a:t>
            </a:r>
          </a:p>
        </p:txBody>
      </p:sp>
      <p:sp>
        <p:nvSpPr>
          <p:cNvPr name="TextBox 16" id="16"/>
          <p:cNvSpPr txBox="true"/>
          <p:nvPr/>
        </p:nvSpPr>
        <p:spPr>
          <a:xfrm rot="0">
            <a:off x="4275832" y="4578680"/>
            <a:ext cx="5948366" cy="1861195"/>
          </a:xfrm>
          <a:prstGeom prst="rect">
            <a:avLst/>
          </a:prstGeom>
        </p:spPr>
        <p:txBody>
          <a:bodyPr anchor="t" rtlCol="false" tIns="0" lIns="0" bIns="0" rIns="0">
            <a:spAutoFit/>
          </a:bodyPr>
          <a:lstStyle/>
          <a:p>
            <a:pPr algn="just">
              <a:lnSpc>
                <a:spcPts val="2939"/>
              </a:lnSpc>
            </a:pPr>
            <a:r>
              <a:rPr lang="en-US" sz="2099">
                <a:solidFill>
                  <a:srgbClr val="000000"/>
                </a:solidFill>
                <a:latin typeface="Poppins"/>
                <a:ea typeface="Poppins"/>
                <a:cs typeface="Poppins"/>
                <a:sym typeface="Poppins"/>
              </a:rPr>
              <a:t>What are the possible system tools or technologies can be used to create an automated and time-based reminder system? </a:t>
            </a:r>
          </a:p>
          <a:p>
            <a:pPr algn="just">
              <a:lnSpc>
                <a:spcPts val="2939"/>
              </a:lnSpc>
              <a:spcBef>
                <a:spcPct val="0"/>
              </a:spcBef>
            </a:pPr>
          </a:p>
        </p:txBody>
      </p:sp>
      <p:grpSp>
        <p:nvGrpSpPr>
          <p:cNvPr name="Group 17" id="17"/>
          <p:cNvGrpSpPr/>
          <p:nvPr/>
        </p:nvGrpSpPr>
        <p:grpSpPr>
          <a:xfrm rot="0">
            <a:off x="10640583" y="2261447"/>
            <a:ext cx="1622464" cy="162246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0707465" y="2451391"/>
            <a:ext cx="1507749" cy="2494817"/>
          </a:xfrm>
          <a:prstGeom prst="rect">
            <a:avLst/>
          </a:prstGeom>
        </p:spPr>
        <p:txBody>
          <a:bodyPr anchor="t" rtlCol="false" tIns="0" lIns="0" bIns="0" rIns="0">
            <a:spAutoFit/>
          </a:bodyPr>
          <a:lstStyle/>
          <a:p>
            <a:pPr algn="ctr">
              <a:lnSpc>
                <a:spcPts val="10122"/>
              </a:lnSpc>
            </a:pPr>
            <a:r>
              <a:rPr lang="en-US" sz="7230">
                <a:solidFill>
                  <a:srgbClr val="000000"/>
                </a:solidFill>
                <a:latin typeface="League Spartan"/>
                <a:ea typeface="League Spartan"/>
                <a:cs typeface="League Spartan"/>
                <a:sym typeface="League Spartan"/>
              </a:rPr>
              <a:t>2</a:t>
            </a:r>
          </a:p>
          <a:p>
            <a:pPr algn="ctr">
              <a:lnSpc>
                <a:spcPts val="10122"/>
              </a:lnSpc>
            </a:pPr>
          </a:p>
        </p:txBody>
      </p:sp>
      <p:grpSp>
        <p:nvGrpSpPr>
          <p:cNvPr name="Group 21" id="21"/>
          <p:cNvGrpSpPr/>
          <p:nvPr/>
        </p:nvGrpSpPr>
        <p:grpSpPr>
          <a:xfrm rot="0">
            <a:off x="10640583" y="4312535"/>
            <a:ext cx="1622464" cy="1622464"/>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3" id="23"/>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0707465" y="4502480"/>
            <a:ext cx="1507749" cy="2494817"/>
          </a:xfrm>
          <a:prstGeom prst="rect">
            <a:avLst/>
          </a:prstGeom>
        </p:spPr>
        <p:txBody>
          <a:bodyPr anchor="t" rtlCol="false" tIns="0" lIns="0" bIns="0" rIns="0">
            <a:spAutoFit/>
          </a:bodyPr>
          <a:lstStyle/>
          <a:p>
            <a:pPr algn="ctr">
              <a:lnSpc>
                <a:spcPts val="10122"/>
              </a:lnSpc>
            </a:pPr>
            <a:r>
              <a:rPr lang="en-US" sz="7230">
                <a:solidFill>
                  <a:srgbClr val="000000"/>
                </a:solidFill>
                <a:latin typeface="League Spartan"/>
                <a:ea typeface="League Spartan"/>
                <a:cs typeface="League Spartan"/>
                <a:sym typeface="League Spartan"/>
              </a:rPr>
              <a:t>3</a:t>
            </a:r>
          </a:p>
          <a:p>
            <a:pPr algn="ctr">
              <a:lnSpc>
                <a:spcPts val="10122"/>
              </a:lnSpc>
            </a:pPr>
          </a:p>
        </p:txBody>
      </p:sp>
      <p:grpSp>
        <p:nvGrpSpPr>
          <p:cNvPr name="Group 25" id="25"/>
          <p:cNvGrpSpPr/>
          <p:nvPr/>
        </p:nvGrpSpPr>
        <p:grpSpPr>
          <a:xfrm rot="0">
            <a:off x="10640583" y="6449349"/>
            <a:ext cx="1622464" cy="162246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7" id="2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10707465" y="6639293"/>
            <a:ext cx="1507749" cy="1222255"/>
          </a:xfrm>
          <a:prstGeom prst="rect">
            <a:avLst/>
          </a:prstGeom>
        </p:spPr>
        <p:txBody>
          <a:bodyPr anchor="t" rtlCol="false" tIns="0" lIns="0" bIns="0" rIns="0">
            <a:spAutoFit/>
          </a:bodyPr>
          <a:lstStyle/>
          <a:p>
            <a:pPr algn="ctr">
              <a:lnSpc>
                <a:spcPts val="10122"/>
              </a:lnSpc>
            </a:pPr>
            <a:r>
              <a:rPr lang="en-US" sz="7230">
                <a:solidFill>
                  <a:srgbClr val="000000"/>
                </a:solidFill>
                <a:latin typeface="League Spartan"/>
                <a:ea typeface="League Spartan"/>
                <a:cs typeface="League Spartan"/>
                <a:sym typeface="League Spartan"/>
              </a:rPr>
              <a:t>4</a:t>
            </a:r>
          </a:p>
        </p:txBody>
      </p:sp>
      <p:grpSp>
        <p:nvGrpSpPr>
          <p:cNvPr name="Group 29" id="29"/>
          <p:cNvGrpSpPr/>
          <p:nvPr/>
        </p:nvGrpSpPr>
        <p:grpSpPr>
          <a:xfrm rot="0">
            <a:off x="10573700" y="8437417"/>
            <a:ext cx="1622464" cy="162246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31" id="3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10640583" y="8627361"/>
            <a:ext cx="1507749" cy="1222255"/>
          </a:xfrm>
          <a:prstGeom prst="rect">
            <a:avLst/>
          </a:prstGeom>
        </p:spPr>
        <p:txBody>
          <a:bodyPr anchor="t" rtlCol="false" tIns="0" lIns="0" bIns="0" rIns="0">
            <a:spAutoFit/>
          </a:bodyPr>
          <a:lstStyle/>
          <a:p>
            <a:pPr algn="ctr">
              <a:lnSpc>
                <a:spcPts val="10122"/>
              </a:lnSpc>
            </a:pPr>
            <a:r>
              <a:rPr lang="en-US" sz="7230">
                <a:solidFill>
                  <a:srgbClr val="000000"/>
                </a:solidFill>
                <a:latin typeface="League Spartan"/>
                <a:ea typeface="League Spartan"/>
                <a:cs typeface="League Spartan"/>
                <a:sym typeface="League Spartan"/>
              </a:rPr>
              <a:t>5</a:t>
            </a:r>
          </a:p>
        </p:txBody>
      </p:sp>
      <p:sp>
        <p:nvSpPr>
          <p:cNvPr name="TextBox 33" id="33"/>
          <p:cNvSpPr txBox="true"/>
          <p:nvPr/>
        </p:nvSpPr>
        <p:spPr>
          <a:xfrm rot="0">
            <a:off x="4275832" y="8688256"/>
            <a:ext cx="5948366" cy="1489720"/>
          </a:xfrm>
          <a:prstGeom prst="rect">
            <a:avLst/>
          </a:prstGeom>
        </p:spPr>
        <p:txBody>
          <a:bodyPr anchor="t" rtlCol="false" tIns="0" lIns="0" bIns="0" rIns="0">
            <a:spAutoFit/>
          </a:bodyPr>
          <a:lstStyle/>
          <a:p>
            <a:pPr algn="just">
              <a:lnSpc>
                <a:spcPts val="2939"/>
              </a:lnSpc>
              <a:spcBef>
                <a:spcPct val="0"/>
              </a:spcBef>
            </a:pPr>
            <a:r>
              <a:rPr lang="en-US" sz="2099">
                <a:solidFill>
                  <a:srgbClr val="000000"/>
                </a:solidFill>
                <a:latin typeface="Poppins"/>
                <a:ea typeface="Poppins"/>
                <a:cs typeface="Poppins"/>
                <a:sym typeface="Poppins"/>
              </a:rPr>
              <a:t>To what extent might the proposed system improve clinic efficiency, reduce missed appointments, and enhance client compliance? </a:t>
            </a:r>
          </a:p>
        </p:txBody>
      </p:sp>
      <p:sp>
        <p:nvSpPr>
          <p:cNvPr name="TextBox 34" id="34"/>
          <p:cNvSpPr txBox="true"/>
          <p:nvPr/>
        </p:nvSpPr>
        <p:spPr>
          <a:xfrm rot="0">
            <a:off x="4275832" y="6756703"/>
            <a:ext cx="5948366" cy="1118245"/>
          </a:xfrm>
          <a:prstGeom prst="rect">
            <a:avLst/>
          </a:prstGeom>
        </p:spPr>
        <p:txBody>
          <a:bodyPr anchor="t" rtlCol="false" tIns="0" lIns="0" bIns="0" rIns="0">
            <a:spAutoFit/>
          </a:bodyPr>
          <a:lstStyle/>
          <a:p>
            <a:pPr algn="just">
              <a:lnSpc>
                <a:spcPts val="2939"/>
              </a:lnSpc>
              <a:spcBef>
                <a:spcPct val="0"/>
              </a:spcBef>
            </a:pPr>
            <a:r>
              <a:rPr lang="en-US" sz="2099">
                <a:solidFill>
                  <a:srgbClr val="000000"/>
                </a:solidFill>
                <a:latin typeface="Poppins"/>
                <a:ea typeface="Poppins"/>
                <a:cs typeface="Poppins"/>
                <a:sym typeface="Poppins"/>
              </a:rPr>
              <a:t>What types of testing could be used to evaluate the usability, reliability, and overall performance of the proposed system? </a:t>
            </a:r>
          </a:p>
        </p:txBody>
      </p:sp>
      <p:sp>
        <p:nvSpPr>
          <p:cNvPr name="TextBox 35" id="35"/>
          <p:cNvSpPr txBox="true"/>
          <p:nvPr/>
        </p:nvSpPr>
        <p:spPr>
          <a:xfrm rot="0">
            <a:off x="13136591" y="2527591"/>
            <a:ext cx="3922860" cy="5199390"/>
          </a:xfrm>
          <a:prstGeom prst="rect">
            <a:avLst/>
          </a:prstGeom>
        </p:spPr>
        <p:txBody>
          <a:bodyPr anchor="t" rtlCol="false" tIns="0" lIns="0" bIns="0" rIns="0">
            <a:spAutoFit/>
          </a:bodyPr>
          <a:lstStyle/>
          <a:p>
            <a:pPr algn="l">
              <a:lnSpc>
                <a:spcPts val="3219"/>
              </a:lnSpc>
              <a:spcBef>
                <a:spcPct val="0"/>
              </a:spcBef>
            </a:pPr>
            <a:r>
              <a:rPr lang="en-US" sz="2299">
                <a:solidFill>
                  <a:srgbClr val="FFFFFF"/>
                </a:solidFill>
                <a:latin typeface="Poppins"/>
                <a:ea typeface="Poppins"/>
                <a:cs typeface="Poppins"/>
                <a:sym typeface="Poppins"/>
              </a:rPr>
              <a:t>The system is designed to help veterinary clinics efficiently manage and keep track of follow-up appointments by automatically sending reminders to pet owners through SMS and email based on a set schedule. To better understand the focus of this study, it seeks to address the following questions: </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6379957" cy="10287000"/>
            <a:chOff x="0" y="0"/>
            <a:chExt cx="1680318" cy="2709333"/>
          </a:xfrm>
        </p:grpSpPr>
        <p:sp>
          <p:nvSpPr>
            <p:cNvPr name="Freeform 4" id="4"/>
            <p:cNvSpPr/>
            <p:nvPr/>
          </p:nvSpPr>
          <p:spPr>
            <a:xfrm flipH="false" flipV="false" rot="0">
              <a:off x="0" y="0"/>
              <a:ext cx="1680318" cy="2709333"/>
            </a:xfrm>
            <a:custGeom>
              <a:avLst/>
              <a:gdLst/>
              <a:ahLst/>
              <a:cxnLst/>
              <a:rect r="r" b="b" t="t" l="l"/>
              <a:pathLst>
                <a:path h="2709333" w="1680318">
                  <a:moveTo>
                    <a:pt x="0" y="0"/>
                  </a:moveTo>
                  <a:lnTo>
                    <a:pt x="1680318" y="0"/>
                  </a:lnTo>
                  <a:lnTo>
                    <a:pt x="1680318" y="2709333"/>
                  </a:lnTo>
                  <a:lnTo>
                    <a:pt x="0" y="2709333"/>
                  </a:lnTo>
                  <a:close/>
                </a:path>
              </a:pathLst>
            </a:custGeom>
            <a:solidFill>
              <a:srgbClr val="004AAD"/>
            </a:solidFill>
          </p:spPr>
        </p:sp>
        <p:sp>
          <p:nvSpPr>
            <p:cNvPr name="TextBox 5" id="5"/>
            <p:cNvSpPr txBox="true"/>
            <p:nvPr/>
          </p:nvSpPr>
          <p:spPr>
            <a:xfrm>
              <a:off x="0" y="-47625"/>
              <a:ext cx="1680318"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13625068" y="-2284750"/>
            <a:ext cx="1601933" cy="6875958"/>
            <a:chOff x="0" y="0"/>
            <a:chExt cx="421908" cy="1810952"/>
          </a:xfrm>
        </p:grpSpPr>
        <p:sp>
          <p:nvSpPr>
            <p:cNvPr name="Freeform 7" id="7"/>
            <p:cNvSpPr/>
            <p:nvPr/>
          </p:nvSpPr>
          <p:spPr>
            <a:xfrm flipH="false" flipV="false" rot="0">
              <a:off x="0" y="0"/>
              <a:ext cx="421908" cy="1810952"/>
            </a:xfrm>
            <a:custGeom>
              <a:avLst/>
              <a:gdLst/>
              <a:ahLst/>
              <a:cxnLst/>
              <a:rect r="r" b="b" t="t" l="l"/>
              <a:pathLst>
                <a:path h="1810952" w="421908">
                  <a:moveTo>
                    <a:pt x="210954" y="0"/>
                  </a:moveTo>
                  <a:lnTo>
                    <a:pt x="210954" y="0"/>
                  </a:lnTo>
                  <a:cubicBezTo>
                    <a:pt x="266903" y="0"/>
                    <a:pt x="320560" y="22225"/>
                    <a:pt x="360121" y="61787"/>
                  </a:cubicBezTo>
                  <a:cubicBezTo>
                    <a:pt x="399683" y="101349"/>
                    <a:pt x="421908" y="155006"/>
                    <a:pt x="421908" y="210954"/>
                  </a:cubicBezTo>
                  <a:lnTo>
                    <a:pt x="421908" y="1599998"/>
                  </a:lnTo>
                  <a:cubicBezTo>
                    <a:pt x="421908" y="1655946"/>
                    <a:pt x="399683" y="1709603"/>
                    <a:pt x="360121" y="1749165"/>
                  </a:cubicBezTo>
                  <a:cubicBezTo>
                    <a:pt x="320560" y="1788726"/>
                    <a:pt x="266903" y="1810952"/>
                    <a:pt x="210954" y="1810952"/>
                  </a:cubicBezTo>
                  <a:lnTo>
                    <a:pt x="210954" y="1810952"/>
                  </a:lnTo>
                  <a:cubicBezTo>
                    <a:pt x="155006" y="1810952"/>
                    <a:pt x="101349" y="1788726"/>
                    <a:pt x="61787" y="1749165"/>
                  </a:cubicBezTo>
                  <a:cubicBezTo>
                    <a:pt x="22225" y="1709603"/>
                    <a:pt x="0" y="1655946"/>
                    <a:pt x="0" y="1599998"/>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8" id="8"/>
            <p:cNvSpPr txBox="true"/>
            <p:nvPr/>
          </p:nvSpPr>
          <p:spPr>
            <a:xfrm>
              <a:off x="0" y="-47625"/>
              <a:ext cx="421908" cy="185857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591281" y="2949958"/>
            <a:ext cx="4908029" cy="4300174"/>
          </a:xfrm>
          <a:prstGeom prst="rect">
            <a:avLst/>
          </a:prstGeom>
        </p:spPr>
        <p:txBody>
          <a:bodyPr anchor="t" rtlCol="false" tIns="0" lIns="0" bIns="0" rIns="0">
            <a:spAutoFit/>
          </a:bodyPr>
          <a:lstStyle/>
          <a:p>
            <a:pPr algn="l">
              <a:lnSpc>
                <a:spcPts val="3432"/>
              </a:lnSpc>
              <a:spcBef>
                <a:spcPct val="0"/>
              </a:spcBef>
            </a:pPr>
            <a:r>
              <a:rPr lang="en-US" sz="2451">
                <a:solidFill>
                  <a:srgbClr val="FFFFFF"/>
                </a:solidFill>
                <a:latin typeface="Poppins"/>
                <a:ea typeface="Poppins"/>
                <a:cs typeface="Poppins"/>
                <a:sym typeface="Poppins"/>
              </a:rPr>
              <a:t>The main objective of this study is to design, develop, and evaluate a Smart SMS and Email Reminder System with Time-Based Trigger to help veterinary clinics manage and reduce missed follow-up appointments. To achieve this, the study pursues the following specific objectives:</a:t>
            </a:r>
          </a:p>
        </p:txBody>
      </p:sp>
      <p:sp>
        <p:nvSpPr>
          <p:cNvPr name="TextBox 10" id="10"/>
          <p:cNvSpPr txBox="true"/>
          <p:nvPr/>
        </p:nvSpPr>
        <p:spPr>
          <a:xfrm rot="0">
            <a:off x="874473" y="858107"/>
            <a:ext cx="4634362" cy="1411567"/>
          </a:xfrm>
          <a:prstGeom prst="rect">
            <a:avLst/>
          </a:prstGeom>
        </p:spPr>
        <p:txBody>
          <a:bodyPr anchor="t" rtlCol="false" tIns="0" lIns="0" bIns="0" rIns="0">
            <a:spAutoFit/>
          </a:bodyPr>
          <a:lstStyle/>
          <a:p>
            <a:pPr algn="ctr">
              <a:lnSpc>
                <a:spcPts val="5672"/>
              </a:lnSpc>
            </a:pPr>
            <a:r>
              <a:rPr lang="en-US" sz="4051">
                <a:solidFill>
                  <a:srgbClr val="FFFFFF"/>
                </a:solidFill>
                <a:latin typeface="Roboto"/>
                <a:ea typeface="Roboto"/>
                <a:cs typeface="Roboto"/>
                <a:sym typeface="Roboto"/>
              </a:rPr>
              <a:t>OBJECTIVES OF THE STUDY</a:t>
            </a:r>
          </a:p>
        </p:txBody>
      </p:sp>
      <p:sp>
        <p:nvSpPr>
          <p:cNvPr name="TextBox 11" id="11"/>
          <p:cNvSpPr txBox="true"/>
          <p:nvPr/>
        </p:nvSpPr>
        <p:spPr>
          <a:xfrm rot="0">
            <a:off x="11564281" y="371313"/>
            <a:ext cx="5435149" cy="1533221"/>
          </a:xfrm>
          <a:prstGeom prst="rect">
            <a:avLst/>
          </a:prstGeom>
        </p:spPr>
        <p:txBody>
          <a:bodyPr anchor="t" rtlCol="false" tIns="0" lIns="0" bIns="0" rIns="0">
            <a:spAutoFit/>
          </a:bodyPr>
          <a:lstStyle/>
          <a:p>
            <a:pPr algn="just">
              <a:lnSpc>
                <a:spcPts val="3069"/>
              </a:lnSpc>
              <a:spcBef>
                <a:spcPct val="0"/>
              </a:spcBef>
            </a:pPr>
            <a:r>
              <a:rPr lang="en-US" sz="2192">
                <a:solidFill>
                  <a:srgbClr val="FFFFFF"/>
                </a:solidFill>
                <a:latin typeface="Poppins"/>
                <a:ea typeface="Poppins"/>
                <a:cs typeface="Poppins"/>
                <a:sym typeface="Poppins"/>
              </a:rPr>
              <a:t>To develop a system to resolve the existing problems of veterinary clinics related to reminder and follow-up processes.</a:t>
            </a:r>
          </a:p>
        </p:txBody>
      </p:sp>
      <p:grpSp>
        <p:nvGrpSpPr>
          <p:cNvPr name="Group 12" id="12"/>
          <p:cNvGrpSpPr/>
          <p:nvPr/>
        </p:nvGrpSpPr>
        <p:grpSpPr>
          <a:xfrm rot="-5400000">
            <a:off x="9220330" y="-313273"/>
            <a:ext cx="1601933" cy="6875958"/>
            <a:chOff x="0" y="0"/>
            <a:chExt cx="421908" cy="1810952"/>
          </a:xfrm>
        </p:grpSpPr>
        <p:sp>
          <p:nvSpPr>
            <p:cNvPr name="Freeform 13" id="13"/>
            <p:cNvSpPr/>
            <p:nvPr/>
          </p:nvSpPr>
          <p:spPr>
            <a:xfrm flipH="false" flipV="false" rot="0">
              <a:off x="0" y="0"/>
              <a:ext cx="421908" cy="1810952"/>
            </a:xfrm>
            <a:custGeom>
              <a:avLst/>
              <a:gdLst/>
              <a:ahLst/>
              <a:cxnLst/>
              <a:rect r="r" b="b" t="t" l="l"/>
              <a:pathLst>
                <a:path h="1810952" w="421908">
                  <a:moveTo>
                    <a:pt x="210954" y="0"/>
                  </a:moveTo>
                  <a:lnTo>
                    <a:pt x="210954" y="0"/>
                  </a:lnTo>
                  <a:cubicBezTo>
                    <a:pt x="266903" y="0"/>
                    <a:pt x="320560" y="22225"/>
                    <a:pt x="360121" y="61787"/>
                  </a:cubicBezTo>
                  <a:cubicBezTo>
                    <a:pt x="399683" y="101349"/>
                    <a:pt x="421908" y="155006"/>
                    <a:pt x="421908" y="210954"/>
                  </a:cubicBezTo>
                  <a:lnTo>
                    <a:pt x="421908" y="1599998"/>
                  </a:lnTo>
                  <a:cubicBezTo>
                    <a:pt x="421908" y="1655946"/>
                    <a:pt x="399683" y="1709603"/>
                    <a:pt x="360121" y="1749165"/>
                  </a:cubicBezTo>
                  <a:cubicBezTo>
                    <a:pt x="320560" y="1788726"/>
                    <a:pt x="266903" y="1810952"/>
                    <a:pt x="210954" y="1810952"/>
                  </a:cubicBezTo>
                  <a:lnTo>
                    <a:pt x="210954" y="1810952"/>
                  </a:lnTo>
                  <a:cubicBezTo>
                    <a:pt x="155006" y="1810952"/>
                    <a:pt x="101349" y="1788726"/>
                    <a:pt x="61787" y="1749165"/>
                  </a:cubicBezTo>
                  <a:cubicBezTo>
                    <a:pt x="22225" y="1709603"/>
                    <a:pt x="0" y="1655946"/>
                    <a:pt x="0" y="1599998"/>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14" id="14"/>
            <p:cNvSpPr txBox="true"/>
            <p:nvPr/>
          </p:nvSpPr>
          <p:spPr>
            <a:xfrm>
              <a:off x="0" y="-47625"/>
              <a:ext cx="421908" cy="1858577"/>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5400000">
            <a:off x="13625068" y="1869186"/>
            <a:ext cx="1601933" cy="6875958"/>
            <a:chOff x="0" y="0"/>
            <a:chExt cx="421908" cy="1810952"/>
          </a:xfrm>
        </p:grpSpPr>
        <p:sp>
          <p:nvSpPr>
            <p:cNvPr name="Freeform 16" id="16"/>
            <p:cNvSpPr/>
            <p:nvPr/>
          </p:nvSpPr>
          <p:spPr>
            <a:xfrm flipH="false" flipV="false" rot="0">
              <a:off x="0" y="0"/>
              <a:ext cx="421908" cy="1810952"/>
            </a:xfrm>
            <a:custGeom>
              <a:avLst/>
              <a:gdLst/>
              <a:ahLst/>
              <a:cxnLst/>
              <a:rect r="r" b="b" t="t" l="l"/>
              <a:pathLst>
                <a:path h="1810952" w="421908">
                  <a:moveTo>
                    <a:pt x="210954" y="0"/>
                  </a:moveTo>
                  <a:lnTo>
                    <a:pt x="210954" y="0"/>
                  </a:lnTo>
                  <a:cubicBezTo>
                    <a:pt x="266903" y="0"/>
                    <a:pt x="320560" y="22225"/>
                    <a:pt x="360121" y="61787"/>
                  </a:cubicBezTo>
                  <a:cubicBezTo>
                    <a:pt x="399683" y="101349"/>
                    <a:pt x="421908" y="155006"/>
                    <a:pt x="421908" y="210954"/>
                  </a:cubicBezTo>
                  <a:lnTo>
                    <a:pt x="421908" y="1599998"/>
                  </a:lnTo>
                  <a:cubicBezTo>
                    <a:pt x="421908" y="1655946"/>
                    <a:pt x="399683" y="1709603"/>
                    <a:pt x="360121" y="1749165"/>
                  </a:cubicBezTo>
                  <a:cubicBezTo>
                    <a:pt x="320560" y="1788726"/>
                    <a:pt x="266903" y="1810952"/>
                    <a:pt x="210954" y="1810952"/>
                  </a:cubicBezTo>
                  <a:lnTo>
                    <a:pt x="210954" y="1810952"/>
                  </a:lnTo>
                  <a:cubicBezTo>
                    <a:pt x="155006" y="1810952"/>
                    <a:pt x="101349" y="1788726"/>
                    <a:pt x="61787" y="1749165"/>
                  </a:cubicBezTo>
                  <a:cubicBezTo>
                    <a:pt x="22225" y="1709603"/>
                    <a:pt x="0" y="1655946"/>
                    <a:pt x="0" y="1599998"/>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17" id="17"/>
            <p:cNvSpPr txBox="true"/>
            <p:nvPr/>
          </p:nvSpPr>
          <p:spPr>
            <a:xfrm>
              <a:off x="0" y="-47625"/>
              <a:ext cx="421908" cy="1858577"/>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5400000">
            <a:off x="9235511" y="3838497"/>
            <a:ext cx="1601933" cy="6875958"/>
            <a:chOff x="0" y="0"/>
            <a:chExt cx="421908" cy="1810952"/>
          </a:xfrm>
        </p:grpSpPr>
        <p:sp>
          <p:nvSpPr>
            <p:cNvPr name="Freeform 19" id="19"/>
            <p:cNvSpPr/>
            <p:nvPr/>
          </p:nvSpPr>
          <p:spPr>
            <a:xfrm flipH="false" flipV="false" rot="0">
              <a:off x="0" y="0"/>
              <a:ext cx="421908" cy="1810952"/>
            </a:xfrm>
            <a:custGeom>
              <a:avLst/>
              <a:gdLst/>
              <a:ahLst/>
              <a:cxnLst/>
              <a:rect r="r" b="b" t="t" l="l"/>
              <a:pathLst>
                <a:path h="1810952" w="421908">
                  <a:moveTo>
                    <a:pt x="210954" y="0"/>
                  </a:moveTo>
                  <a:lnTo>
                    <a:pt x="210954" y="0"/>
                  </a:lnTo>
                  <a:cubicBezTo>
                    <a:pt x="266903" y="0"/>
                    <a:pt x="320560" y="22225"/>
                    <a:pt x="360121" y="61787"/>
                  </a:cubicBezTo>
                  <a:cubicBezTo>
                    <a:pt x="399683" y="101349"/>
                    <a:pt x="421908" y="155006"/>
                    <a:pt x="421908" y="210954"/>
                  </a:cubicBezTo>
                  <a:lnTo>
                    <a:pt x="421908" y="1599998"/>
                  </a:lnTo>
                  <a:cubicBezTo>
                    <a:pt x="421908" y="1655946"/>
                    <a:pt x="399683" y="1709603"/>
                    <a:pt x="360121" y="1749165"/>
                  </a:cubicBezTo>
                  <a:cubicBezTo>
                    <a:pt x="320560" y="1788726"/>
                    <a:pt x="266903" y="1810952"/>
                    <a:pt x="210954" y="1810952"/>
                  </a:cubicBezTo>
                  <a:lnTo>
                    <a:pt x="210954" y="1810952"/>
                  </a:lnTo>
                  <a:cubicBezTo>
                    <a:pt x="155006" y="1810952"/>
                    <a:pt x="101349" y="1788726"/>
                    <a:pt x="61787" y="1749165"/>
                  </a:cubicBezTo>
                  <a:cubicBezTo>
                    <a:pt x="22225" y="1709603"/>
                    <a:pt x="0" y="1655946"/>
                    <a:pt x="0" y="1599998"/>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20" id="20"/>
            <p:cNvSpPr txBox="true"/>
            <p:nvPr/>
          </p:nvSpPr>
          <p:spPr>
            <a:xfrm>
              <a:off x="0" y="-47625"/>
              <a:ext cx="421908" cy="1858577"/>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5400000">
            <a:off x="13625068" y="5707130"/>
            <a:ext cx="1601933" cy="6875958"/>
            <a:chOff x="0" y="0"/>
            <a:chExt cx="421908" cy="1810952"/>
          </a:xfrm>
        </p:grpSpPr>
        <p:sp>
          <p:nvSpPr>
            <p:cNvPr name="Freeform 22" id="22"/>
            <p:cNvSpPr/>
            <p:nvPr/>
          </p:nvSpPr>
          <p:spPr>
            <a:xfrm flipH="false" flipV="false" rot="0">
              <a:off x="0" y="0"/>
              <a:ext cx="421908" cy="1810952"/>
            </a:xfrm>
            <a:custGeom>
              <a:avLst/>
              <a:gdLst/>
              <a:ahLst/>
              <a:cxnLst/>
              <a:rect r="r" b="b" t="t" l="l"/>
              <a:pathLst>
                <a:path h="1810952" w="421908">
                  <a:moveTo>
                    <a:pt x="210954" y="0"/>
                  </a:moveTo>
                  <a:lnTo>
                    <a:pt x="210954" y="0"/>
                  </a:lnTo>
                  <a:cubicBezTo>
                    <a:pt x="266903" y="0"/>
                    <a:pt x="320560" y="22225"/>
                    <a:pt x="360121" y="61787"/>
                  </a:cubicBezTo>
                  <a:cubicBezTo>
                    <a:pt x="399683" y="101349"/>
                    <a:pt x="421908" y="155006"/>
                    <a:pt x="421908" y="210954"/>
                  </a:cubicBezTo>
                  <a:lnTo>
                    <a:pt x="421908" y="1599998"/>
                  </a:lnTo>
                  <a:cubicBezTo>
                    <a:pt x="421908" y="1655946"/>
                    <a:pt x="399683" y="1709603"/>
                    <a:pt x="360121" y="1749165"/>
                  </a:cubicBezTo>
                  <a:cubicBezTo>
                    <a:pt x="320560" y="1788726"/>
                    <a:pt x="266903" y="1810952"/>
                    <a:pt x="210954" y="1810952"/>
                  </a:cubicBezTo>
                  <a:lnTo>
                    <a:pt x="210954" y="1810952"/>
                  </a:lnTo>
                  <a:cubicBezTo>
                    <a:pt x="155006" y="1810952"/>
                    <a:pt x="101349" y="1788726"/>
                    <a:pt x="61787" y="1749165"/>
                  </a:cubicBezTo>
                  <a:cubicBezTo>
                    <a:pt x="22225" y="1709603"/>
                    <a:pt x="0" y="1655946"/>
                    <a:pt x="0" y="1599998"/>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23" id="23"/>
            <p:cNvSpPr txBox="true"/>
            <p:nvPr/>
          </p:nvSpPr>
          <p:spPr>
            <a:xfrm>
              <a:off x="0" y="-47625"/>
              <a:ext cx="421908" cy="1858577"/>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9037169" y="323421"/>
            <a:ext cx="1622464" cy="1622464"/>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6" id="2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9104052" y="513365"/>
            <a:ext cx="1507749" cy="1222255"/>
          </a:xfrm>
          <a:prstGeom prst="rect">
            <a:avLst/>
          </a:prstGeom>
        </p:spPr>
        <p:txBody>
          <a:bodyPr anchor="t" rtlCol="false" tIns="0" lIns="0" bIns="0" rIns="0">
            <a:spAutoFit/>
          </a:bodyPr>
          <a:lstStyle/>
          <a:p>
            <a:pPr algn="ctr">
              <a:lnSpc>
                <a:spcPts val="10122"/>
              </a:lnSpc>
            </a:pPr>
            <a:r>
              <a:rPr lang="en-US" sz="7230">
                <a:solidFill>
                  <a:srgbClr val="000000"/>
                </a:solidFill>
                <a:latin typeface="League Spartan"/>
                <a:ea typeface="League Spartan"/>
                <a:cs typeface="League Spartan"/>
                <a:sym typeface="League Spartan"/>
              </a:rPr>
              <a:t>1</a:t>
            </a:r>
          </a:p>
        </p:txBody>
      </p:sp>
      <p:grpSp>
        <p:nvGrpSpPr>
          <p:cNvPr name="Group 28" id="28"/>
          <p:cNvGrpSpPr/>
          <p:nvPr/>
        </p:nvGrpSpPr>
        <p:grpSpPr>
          <a:xfrm rot="0">
            <a:off x="8958872" y="8344143"/>
            <a:ext cx="1622464" cy="1622464"/>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30" id="30"/>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9025755" y="8534087"/>
            <a:ext cx="1507749" cy="1222255"/>
          </a:xfrm>
          <a:prstGeom prst="rect">
            <a:avLst/>
          </a:prstGeom>
        </p:spPr>
        <p:txBody>
          <a:bodyPr anchor="t" rtlCol="false" tIns="0" lIns="0" bIns="0" rIns="0">
            <a:spAutoFit/>
          </a:bodyPr>
          <a:lstStyle/>
          <a:p>
            <a:pPr algn="ctr">
              <a:lnSpc>
                <a:spcPts val="10122"/>
              </a:lnSpc>
            </a:pPr>
            <a:r>
              <a:rPr lang="en-US" sz="7230">
                <a:solidFill>
                  <a:srgbClr val="000000"/>
                </a:solidFill>
                <a:latin typeface="League Spartan"/>
                <a:ea typeface="League Spartan"/>
                <a:cs typeface="League Spartan"/>
                <a:sym typeface="League Spartan"/>
              </a:rPr>
              <a:t>5</a:t>
            </a:r>
          </a:p>
        </p:txBody>
      </p:sp>
      <p:grpSp>
        <p:nvGrpSpPr>
          <p:cNvPr name="Group 32" id="32"/>
          <p:cNvGrpSpPr/>
          <p:nvPr/>
        </p:nvGrpSpPr>
        <p:grpSpPr>
          <a:xfrm rot="0">
            <a:off x="13729518" y="6375107"/>
            <a:ext cx="1622464" cy="1622464"/>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34" id="3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13796400" y="6565051"/>
            <a:ext cx="1507749" cy="1222255"/>
          </a:xfrm>
          <a:prstGeom prst="rect">
            <a:avLst/>
          </a:prstGeom>
        </p:spPr>
        <p:txBody>
          <a:bodyPr anchor="t" rtlCol="false" tIns="0" lIns="0" bIns="0" rIns="0">
            <a:spAutoFit/>
          </a:bodyPr>
          <a:lstStyle/>
          <a:p>
            <a:pPr algn="ctr">
              <a:lnSpc>
                <a:spcPts val="10122"/>
              </a:lnSpc>
            </a:pPr>
            <a:r>
              <a:rPr lang="en-US" sz="7230">
                <a:solidFill>
                  <a:srgbClr val="000000"/>
                </a:solidFill>
                <a:latin typeface="League Spartan"/>
                <a:ea typeface="League Spartan"/>
                <a:cs typeface="League Spartan"/>
                <a:sym typeface="League Spartan"/>
              </a:rPr>
              <a:t>4</a:t>
            </a:r>
          </a:p>
        </p:txBody>
      </p:sp>
      <p:grpSp>
        <p:nvGrpSpPr>
          <p:cNvPr name="Group 36" id="36"/>
          <p:cNvGrpSpPr/>
          <p:nvPr/>
        </p:nvGrpSpPr>
        <p:grpSpPr>
          <a:xfrm rot="0">
            <a:off x="8789863" y="4403298"/>
            <a:ext cx="1622464" cy="1622464"/>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38" id="3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39" id="39"/>
          <p:cNvSpPr txBox="true"/>
          <p:nvPr/>
        </p:nvSpPr>
        <p:spPr>
          <a:xfrm rot="0">
            <a:off x="8856746" y="4593242"/>
            <a:ext cx="1507749" cy="1222255"/>
          </a:xfrm>
          <a:prstGeom prst="rect">
            <a:avLst/>
          </a:prstGeom>
        </p:spPr>
        <p:txBody>
          <a:bodyPr anchor="t" rtlCol="false" tIns="0" lIns="0" bIns="0" rIns="0">
            <a:spAutoFit/>
          </a:bodyPr>
          <a:lstStyle/>
          <a:p>
            <a:pPr algn="ctr">
              <a:lnSpc>
                <a:spcPts val="10122"/>
              </a:lnSpc>
            </a:pPr>
            <a:r>
              <a:rPr lang="en-US" sz="7230">
                <a:solidFill>
                  <a:srgbClr val="000000"/>
                </a:solidFill>
                <a:latin typeface="League Spartan"/>
                <a:ea typeface="League Spartan"/>
                <a:cs typeface="League Spartan"/>
                <a:sym typeface="League Spartan"/>
              </a:rPr>
              <a:t>3</a:t>
            </a:r>
          </a:p>
        </p:txBody>
      </p:sp>
      <p:grpSp>
        <p:nvGrpSpPr>
          <p:cNvPr name="Group 40" id="40"/>
          <p:cNvGrpSpPr/>
          <p:nvPr/>
        </p:nvGrpSpPr>
        <p:grpSpPr>
          <a:xfrm rot="0">
            <a:off x="13662635" y="2256959"/>
            <a:ext cx="1622464" cy="1622464"/>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42" id="42"/>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13729518" y="2446904"/>
            <a:ext cx="1507749" cy="1222255"/>
          </a:xfrm>
          <a:prstGeom prst="rect">
            <a:avLst/>
          </a:prstGeom>
        </p:spPr>
        <p:txBody>
          <a:bodyPr anchor="t" rtlCol="false" tIns="0" lIns="0" bIns="0" rIns="0">
            <a:spAutoFit/>
          </a:bodyPr>
          <a:lstStyle/>
          <a:p>
            <a:pPr algn="ctr">
              <a:lnSpc>
                <a:spcPts val="10122"/>
              </a:lnSpc>
            </a:pPr>
            <a:r>
              <a:rPr lang="en-US" sz="7230">
                <a:solidFill>
                  <a:srgbClr val="000000"/>
                </a:solidFill>
                <a:latin typeface="League Spartan"/>
                <a:ea typeface="League Spartan"/>
                <a:cs typeface="League Spartan"/>
                <a:sym typeface="League Spartan"/>
              </a:rPr>
              <a:t>2</a:t>
            </a:r>
          </a:p>
        </p:txBody>
      </p:sp>
      <p:sp>
        <p:nvSpPr>
          <p:cNvPr name="TextBox 44" id="44"/>
          <p:cNvSpPr txBox="true"/>
          <p:nvPr/>
        </p:nvSpPr>
        <p:spPr>
          <a:xfrm rot="0">
            <a:off x="7062295" y="2454473"/>
            <a:ext cx="5948366" cy="1263025"/>
          </a:xfrm>
          <a:prstGeom prst="rect">
            <a:avLst/>
          </a:prstGeom>
        </p:spPr>
        <p:txBody>
          <a:bodyPr anchor="t" rtlCol="false" tIns="0" lIns="0" bIns="0" rIns="0">
            <a:spAutoFit/>
          </a:bodyPr>
          <a:lstStyle/>
          <a:p>
            <a:pPr algn="ctr">
              <a:lnSpc>
                <a:spcPts val="3359"/>
              </a:lnSpc>
              <a:spcBef>
                <a:spcPct val="0"/>
              </a:spcBef>
            </a:pPr>
            <a:r>
              <a:rPr lang="en-US" sz="2399">
                <a:solidFill>
                  <a:srgbClr val="FFFFFF"/>
                </a:solidFill>
                <a:latin typeface="Poppins"/>
                <a:ea typeface="Poppins"/>
                <a:cs typeface="Poppins"/>
                <a:sym typeface="Poppins"/>
              </a:rPr>
              <a:t>To develop existing system features that supports efficient appointment scheduling and automated reminders.</a:t>
            </a:r>
          </a:p>
        </p:txBody>
      </p:sp>
      <p:sp>
        <p:nvSpPr>
          <p:cNvPr name="TextBox 45" id="45"/>
          <p:cNvSpPr txBox="true"/>
          <p:nvPr/>
        </p:nvSpPr>
        <p:spPr>
          <a:xfrm rot="0">
            <a:off x="11197054" y="4534440"/>
            <a:ext cx="6412162" cy="1416060"/>
          </a:xfrm>
          <a:prstGeom prst="rect">
            <a:avLst/>
          </a:prstGeom>
        </p:spPr>
        <p:txBody>
          <a:bodyPr anchor="t" rtlCol="false" tIns="0" lIns="0" bIns="0" rIns="0">
            <a:spAutoFit/>
          </a:bodyPr>
          <a:lstStyle/>
          <a:p>
            <a:pPr algn="ctr">
              <a:lnSpc>
                <a:spcPts val="2799"/>
              </a:lnSpc>
              <a:spcBef>
                <a:spcPct val="0"/>
              </a:spcBef>
            </a:pPr>
            <a:r>
              <a:rPr lang="en-US" sz="1999">
                <a:solidFill>
                  <a:srgbClr val="FFFFFF"/>
                </a:solidFill>
                <a:latin typeface="Poppins"/>
                <a:ea typeface="Poppins"/>
                <a:cs typeface="Poppins"/>
                <a:sym typeface="Poppins"/>
              </a:rPr>
              <a:t>To implement the essential technologies for an effective and impactful Smart SMS and Email Reminder system that will automatically notify pet owners based on scheduled appointments.</a:t>
            </a:r>
          </a:p>
        </p:txBody>
      </p:sp>
      <p:sp>
        <p:nvSpPr>
          <p:cNvPr name="TextBox 46" id="46"/>
          <p:cNvSpPr txBox="true"/>
          <p:nvPr/>
        </p:nvSpPr>
        <p:spPr>
          <a:xfrm rot="0">
            <a:off x="6815215" y="6507850"/>
            <a:ext cx="6412162" cy="148972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Poppins"/>
                <a:ea typeface="Poppins"/>
                <a:cs typeface="Poppins"/>
                <a:sym typeface="Poppins"/>
              </a:rPr>
              <a:t>E</a:t>
            </a:r>
            <a:r>
              <a:rPr lang="en-US" sz="2099">
                <a:solidFill>
                  <a:srgbClr val="FFFFFF"/>
                </a:solidFill>
                <a:latin typeface="Poppins"/>
                <a:ea typeface="Poppins"/>
                <a:cs typeface="Poppins"/>
                <a:sym typeface="Poppins"/>
              </a:rPr>
              <a:t>valuate the system’s functionality and reliability through testing methods such as unit testing, ensuring that it meets the required performance standards and user expectations.</a:t>
            </a:r>
          </a:p>
        </p:txBody>
      </p:sp>
      <p:sp>
        <p:nvSpPr>
          <p:cNvPr name="TextBox 47" id="47"/>
          <p:cNvSpPr txBox="true"/>
          <p:nvPr/>
        </p:nvSpPr>
        <p:spPr>
          <a:xfrm rot="0">
            <a:off x="11197054" y="8448918"/>
            <a:ext cx="6364330" cy="1489720"/>
          </a:xfrm>
          <a:prstGeom prst="rect">
            <a:avLst/>
          </a:prstGeom>
        </p:spPr>
        <p:txBody>
          <a:bodyPr anchor="t" rtlCol="false" tIns="0" lIns="0" bIns="0" rIns="0">
            <a:spAutoFit/>
          </a:bodyPr>
          <a:lstStyle/>
          <a:p>
            <a:pPr algn="r">
              <a:lnSpc>
                <a:spcPts val="2939"/>
              </a:lnSpc>
              <a:spcBef>
                <a:spcPct val="0"/>
              </a:spcBef>
            </a:pPr>
            <a:r>
              <a:rPr lang="en-US" sz="2099">
                <a:solidFill>
                  <a:srgbClr val="FFFFFF"/>
                </a:solidFill>
                <a:latin typeface="Poppins"/>
                <a:ea typeface="Poppins"/>
                <a:cs typeface="Poppins"/>
                <a:sym typeface="Poppins"/>
              </a:rPr>
              <a:t>E</a:t>
            </a:r>
            <a:r>
              <a:rPr lang="en-US" sz="2099">
                <a:solidFill>
                  <a:srgbClr val="FFFFFF"/>
                </a:solidFill>
                <a:latin typeface="Poppins"/>
                <a:ea typeface="Poppins"/>
                <a:cs typeface="Poppins"/>
                <a:sym typeface="Poppins"/>
              </a:rPr>
              <a:t>valuate the effectiveness of automated, time-based SMS and Email reminders in improving client compliance to scheduled visits and decrease missed follow-up appointments.</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423680"/>
            <a:ext cx="5984123" cy="2112077"/>
            <a:chOff x="0" y="0"/>
            <a:chExt cx="1576065" cy="556267"/>
          </a:xfrm>
        </p:grpSpPr>
        <p:sp>
          <p:nvSpPr>
            <p:cNvPr name="Freeform 4" id="4"/>
            <p:cNvSpPr/>
            <p:nvPr/>
          </p:nvSpPr>
          <p:spPr>
            <a:xfrm flipH="false" flipV="false" rot="0">
              <a:off x="0" y="0"/>
              <a:ext cx="1576065" cy="556267"/>
            </a:xfrm>
            <a:custGeom>
              <a:avLst/>
              <a:gdLst/>
              <a:ahLst/>
              <a:cxnLst/>
              <a:rect r="r" b="b" t="t" l="l"/>
              <a:pathLst>
                <a:path h="556267" w="1576065">
                  <a:moveTo>
                    <a:pt x="0" y="0"/>
                  </a:moveTo>
                  <a:lnTo>
                    <a:pt x="1576065" y="0"/>
                  </a:lnTo>
                  <a:lnTo>
                    <a:pt x="1576065" y="556267"/>
                  </a:lnTo>
                  <a:lnTo>
                    <a:pt x="0" y="556267"/>
                  </a:lnTo>
                  <a:close/>
                </a:path>
              </a:pathLst>
            </a:custGeom>
            <a:solidFill>
              <a:srgbClr val="004AAD"/>
            </a:solidFill>
          </p:spPr>
        </p:sp>
        <p:sp>
          <p:nvSpPr>
            <p:cNvPr name="TextBox 5" id="5"/>
            <p:cNvSpPr txBox="true"/>
            <p:nvPr/>
          </p:nvSpPr>
          <p:spPr>
            <a:xfrm>
              <a:off x="0" y="-47625"/>
              <a:ext cx="1576065" cy="60389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75372" y="3566021"/>
            <a:ext cx="5908751" cy="1855890"/>
          </a:xfrm>
          <a:prstGeom prst="rect">
            <a:avLst/>
          </a:prstGeom>
        </p:spPr>
        <p:txBody>
          <a:bodyPr anchor="t" rtlCol="false" tIns="0" lIns="0" bIns="0" rIns="0">
            <a:spAutoFit/>
          </a:bodyPr>
          <a:lstStyle/>
          <a:p>
            <a:pPr algn="ctr">
              <a:lnSpc>
                <a:spcPts val="7431"/>
              </a:lnSpc>
            </a:pPr>
            <a:r>
              <a:rPr lang="en-US" b="true" sz="5308">
                <a:solidFill>
                  <a:srgbClr val="004AAD"/>
                </a:solidFill>
                <a:latin typeface="League Spartan"/>
                <a:ea typeface="League Spartan"/>
                <a:cs typeface="League Spartan"/>
                <a:sym typeface="League Spartan"/>
              </a:rPr>
              <a:t>SIGNIFICANCE OF THE STUDY </a:t>
            </a:r>
          </a:p>
        </p:txBody>
      </p:sp>
      <p:sp>
        <p:nvSpPr>
          <p:cNvPr name="TextBox 7" id="7"/>
          <p:cNvSpPr txBox="true"/>
          <p:nvPr/>
        </p:nvSpPr>
        <p:spPr>
          <a:xfrm rot="0">
            <a:off x="7744823" y="314887"/>
            <a:ext cx="9485744" cy="1181710"/>
          </a:xfrm>
          <a:prstGeom prst="rect">
            <a:avLst/>
          </a:prstGeom>
        </p:spPr>
        <p:txBody>
          <a:bodyPr anchor="t" rtlCol="false" tIns="0" lIns="0" bIns="0" rIns="0">
            <a:spAutoFit/>
          </a:bodyPr>
          <a:lstStyle/>
          <a:p>
            <a:pPr algn="just">
              <a:lnSpc>
                <a:spcPts val="3116"/>
              </a:lnSpc>
              <a:spcBef>
                <a:spcPct val="0"/>
              </a:spcBef>
            </a:pPr>
            <a:r>
              <a:rPr lang="en-US" b="true" sz="2225">
                <a:solidFill>
                  <a:srgbClr val="004AAD"/>
                </a:solidFill>
                <a:latin typeface="Poppins Bold"/>
                <a:ea typeface="Poppins Bold"/>
                <a:cs typeface="Poppins Bold"/>
                <a:sym typeface="Poppins Bold"/>
              </a:rPr>
              <a:t>For Veterinary Clinics</a:t>
            </a:r>
            <a:r>
              <a:rPr lang="en-US" b="true" sz="2225">
                <a:solidFill>
                  <a:srgbClr val="000000"/>
                </a:solidFill>
                <a:latin typeface="Poppins Bold"/>
                <a:ea typeface="Poppins Bold"/>
                <a:cs typeface="Poppins Bold"/>
                <a:sym typeface="Poppins Bold"/>
              </a:rPr>
              <a:t>.</a:t>
            </a:r>
            <a:r>
              <a:rPr lang="en-US" sz="2225">
                <a:solidFill>
                  <a:srgbClr val="000000"/>
                </a:solidFill>
                <a:latin typeface="Poppins"/>
                <a:ea typeface="Poppins"/>
                <a:cs typeface="Poppins"/>
                <a:sym typeface="Poppins"/>
              </a:rPr>
              <a:t> This study helps veterinary clinic follow-up management process become more efficient by reducing manual routing and scheduling tasks. </a:t>
            </a:r>
          </a:p>
        </p:txBody>
      </p:sp>
      <p:sp>
        <p:nvSpPr>
          <p:cNvPr name="TextBox 8" id="8"/>
          <p:cNvSpPr txBox="true"/>
          <p:nvPr/>
        </p:nvSpPr>
        <p:spPr>
          <a:xfrm rot="0">
            <a:off x="7744823" y="1934921"/>
            <a:ext cx="9757343" cy="1181710"/>
          </a:xfrm>
          <a:prstGeom prst="rect">
            <a:avLst/>
          </a:prstGeom>
        </p:spPr>
        <p:txBody>
          <a:bodyPr anchor="t" rtlCol="false" tIns="0" lIns="0" bIns="0" rIns="0">
            <a:spAutoFit/>
          </a:bodyPr>
          <a:lstStyle/>
          <a:p>
            <a:pPr algn="l">
              <a:lnSpc>
                <a:spcPts val="3116"/>
              </a:lnSpc>
              <a:spcBef>
                <a:spcPct val="0"/>
              </a:spcBef>
            </a:pPr>
            <a:r>
              <a:rPr lang="en-US" sz="2225" b="true">
                <a:solidFill>
                  <a:srgbClr val="004AAD"/>
                </a:solidFill>
                <a:latin typeface="Poppins Bold"/>
                <a:ea typeface="Poppins Bold"/>
                <a:cs typeface="Poppins Bold"/>
                <a:sym typeface="Poppins Bold"/>
              </a:rPr>
              <a:t>For Veterinarians.</a:t>
            </a:r>
            <a:r>
              <a:rPr lang="en-US" sz="2225">
                <a:solidFill>
                  <a:srgbClr val="000000"/>
                </a:solidFill>
                <a:latin typeface="Poppins"/>
                <a:ea typeface="Poppins"/>
                <a:cs typeface="Poppins"/>
                <a:sym typeface="Poppins"/>
              </a:rPr>
              <a:t> Patient management will be a lot easier for veterinarians as the systems automatically sends the reminders to the clients that has a follow-up check-up or appointments on time. </a:t>
            </a:r>
          </a:p>
        </p:txBody>
      </p:sp>
      <p:sp>
        <p:nvSpPr>
          <p:cNvPr name="TextBox 9" id="9"/>
          <p:cNvSpPr txBox="true"/>
          <p:nvPr/>
        </p:nvSpPr>
        <p:spPr>
          <a:xfrm rot="0">
            <a:off x="7744823" y="3604121"/>
            <a:ext cx="9757343" cy="1962760"/>
          </a:xfrm>
          <a:prstGeom prst="rect">
            <a:avLst/>
          </a:prstGeom>
        </p:spPr>
        <p:txBody>
          <a:bodyPr anchor="t" rtlCol="false" tIns="0" lIns="0" bIns="0" rIns="0">
            <a:spAutoFit/>
          </a:bodyPr>
          <a:lstStyle/>
          <a:p>
            <a:pPr algn="l">
              <a:lnSpc>
                <a:spcPts val="3116"/>
              </a:lnSpc>
              <a:spcBef>
                <a:spcPct val="0"/>
              </a:spcBef>
            </a:pPr>
            <a:r>
              <a:rPr lang="en-US" sz="2225" b="true">
                <a:solidFill>
                  <a:srgbClr val="004AAD"/>
                </a:solidFill>
                <a:latin typeface="Poppins Bold"/>
                <a:ea typeface="Poppins Bold"/>
                <a:cs typeface="Poppins Bold"/>
                <a:sym typeface="Poppins Bold"/>
              </a:rPr>
              <a:t>For Pet Owners. </a:t>
            </a:r>
            <a:r>
              <a:rPr lang="en-US" sz="2225">
                <a:solidFill>
                  <a:srgbClr val="000000"/>
                </a:solidFill>
                <a:latin typeface="Poppins"/>
                <a:ea typeface="Poppins"/>
                <a:cs typeface="Poppins"/>
                <a:sym typeface="Poppins"/>
              </a:rPr>
              <a:t>Pet owners will experience greater convenience and peace of mind through automated, time-based reminders sent via SMS and Email. These notifications help them remember upcoming follow up appointments vaccination schedules, and medical check-ups, ensuring that their pets will stay healthy and well monitored. </a:t>
            </a:r>
          </a:p>
        </p:txBody>
      </p:sp>
      <p:sp>
        <p:nvSpPr>
          <p:cNvPr name="TextBox 10" id="10"/>
          <p:cNvSpPr txBox="true"/>
          <p:nvPr/>
        </p:nvSpPr>
        <p:spPr>
          <a:xfrm rot="0">
            <a:off x="7744823" y="8557223"/>
            <a:ext cx="9757343" cy="1572235"/>
          </a:xfrm>
          <a:prstGeom prst="rect">
            <a:avLst/>
          </a:prstGeom>
        </p:spPr>
        <p:txBody>
          <a:bodyPr anchor="t" rtlCol="false" tIns="0" lIns="0" bIns="0" rIns="0">
            <a:spAutoFit/>
          </a:bodyPr>
          <a:lstStyle/>
          <a:p>
            <a:pPr algn="l">
              <a:lnSpc>
                <a:spcPts val="3116"/>
              </a:lnSpc>
              <a:spcBef>
                <a:spcPct val="0"/>
              </a:spcBef>
            </a:pPr>
            <a:r>
              <a:rPr lang="en-US" sz="2225" b="true">
                <a:solidFill>
                  <a:srgbClr val="004AAD"/>
                </a:solidFill>
                <a:latin typeface="Poppins Bold"/>
                <a:ea typeface="Poppins Bold"/>
                <a:cs typeface="Poppins Bold"/>
                <a:sym typeface="Poppins Bold"/>
              </a:rPr>
              <a:t>For Academic Community. </a:t>
            </a:r>
            <a:r>
              <a:rPr lang="en-US" sz="2225">
                <a:solidFill>
                  <a:srgbClr val="000000"/>
                </a:solidFill>
                <a:latin typeface="Poppins"/>
                <a:ea typeface="Poppins"/>
                <a:cs typeface="Poppins"/>
                <a:sym typeface="Poppins"/>
              </a:rPr>
              <a:t>This Research adds to the existing knowledge of information systems, automation, and smart reminders, showing how technology can be address in real world instances in the field of veterinary practice management.</a:t>
            </a:r>
          </a:p>
        </p:txBody>
      </p:sp>
      <p:sp>
        <p:nvSpPr>
          <p:cNvPr name="TextBox 11" id="11"/>
          <p:cNvSpPr txBox="true"/>
          <p:nvPr/>
        </p:nvSpPr>
        <p:spPr>
          <a:xfrm rot="0">
            <a:off x="7744823" y="5942976"/>
            <a:ext cx="9757343" cy="1962760"/>
          </a:xfrm>
          <a:prstGeom prst="rect">
            <a:avLst/>
          </a:prstGeom>
        </p:spPr>
        <p:txBody>
          <a:bodyPr anchor="t" rtlCol="false" tIns="0" lIns="0" bIns="0" rIns="0">
            <a:spAutoFit/>
          </a:bodyPr>
          <a:lstStyle/>
          <a:p>
            <a:pPr algn="l">
              <a:lnSpc>
                <a:spcPts val="3116"/>
              </a:lnSpc>
              <a:spcBef>
                <a:spcPct val="0"/>
              </a:spcBef>
            </a:pPr>
            <a:r>
              <a:rPr lang="en-US" sz="2225" b="true">
                <a:solidFill>
                  <a:srgbClr val="004AAD"/>
                </a:solidFill>
                <a:latin typeface="Poppins Bold"/>
                <a:ea typeface="Poppins Bold"/>
                <a:cs typeface="Poppins Bold"/>
                <a:sym typeface="Poppins Bold"/>
              </a:rPr>
              <a:t>For Future Researchers and Developers. </a:t>
            </a:r>
            <a:r>
              <a:rPr lang="en-US" sz="2225">
                <a:solidFill>
                  <a:srgbClr val="000000"/>
                </a:solidFill>
                <a:latin typeface="Poppins"/>
                <a:ea typeface="Poppins"/>
                <a:cs typeface="Poppins"/>
                <a:sym typeface="Poppins"/>
              </a:rPr>
              <a:t>This study serves as a reference for future researchers and system developers who wish to integrate smart notification systems, time-based triggers, or automated scheduling tools into other industries such as human healthcare, dentistry, or service-based businesses.</a:t>
            </a:r>
          </a:p>
        </p:txBody>
      </p:sp>
      <p:grpSp>
        <p:nvGrpSpPr>
          <p:cNvPr name="Group 12" id="12"/>
          <p:cNvGrpSpPr/>
          <p:nvPr/>
        </p:nvGrpSpPr>
        <p:grpSpPr>
          <a:xfrm rot="0">
            <a:off x="0" y="8320639"/>
            <a:ext cx="5984123" cy="2112077"/>
            <a:chOff x="0" y="0"/>
            <a:chExt cx="1576065" cy="556267"/>
          </a:xfrm>
        </p:grpSpPr>
        <p:sp>
          <p:nvSpPr>
            <p:cNvPr name="Freeform 13" id="13"/>
            <p:cNvSpPr/>
            <p:nvPr/>
          </p:nvSpPr>
          <p:spPr>
            <a:xfrm flipH="false" flipV="false" rot="0">
              <a:off x="0" y="0"/>
              <a:ext cx="1576065" cy="556267"/>
            </a:xfrm>
            <a:custGeom>
              <a:avLst/>
              <a:gdLst/>
              <a:ahLst/>
              <a:cxnLst/>
              <a:rect r="r" b="b" t="t" l="l"/>
              <a:pathLst>
                <a:path h="556267" w="1576065">
                  <a:moveTo>
                    <a:pt x="0" y="0"/>
                  </a:moveTo>
                  <a:lnTo>
                    <a:pt x="1576065" y="0"/>
                  </a:lnTo>
                  <a:lnTo>
                    <a:pt x="1576065" y="556267"/>
                  </a:lnTo>
                  <a:lnTo>
                    <a:pt x="0" y="556267"/>
                  </a:lnTo>
                  <a:close/>
                </a:path>
              </a:pathLst>
            </a:custGeom>
            <a:solidFill>
              <a:srgbClr val="004AAD"/>
            </a:solidFill>
          </p:spPr>
        </p:sp>
        <p:sp>
          <p:nvSpPr>
            <p:cNvPr name="TextBox 14" id="14"/>
            <p:cNvSpPr txBox="true"/>
            <p:nvPr/>
          </p:nvSpPr>
          <p:spPr>
            <a:xfrm>
              <a:off x="0" y="-47625"/>
              <a:ext cx="1576065" cy="603892"/>
            </a:xfrm>
            <a:prstGeom prst="rect">
              <a:avLst/>
            </a:prstGeom>
          </p:spPr>
          <p:txBody>
            <a:bodyPr anchor="ctr" rtlCol="false" tIns="50800" lIns="50800" bIns="50800" rIns="50800"/>
            <a:lstStyle/>
            <a:p>
              <a:pPr algn="ctr">
                <a:lnSpc>
                  <a:spcPts val="2659"/>
                </a:lnSpc>
              </a:pPr>
            </a:p>
          </p:txBody>
        </p:sp>
      </p:grpSp>
    </p:spTree>
  </p:cSld>
  <p:clrMapOvr>
    <a:masterClrMapping/>
  </p:clrMapOvr>
  <p:transition spd="fast">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657931" y="860405"/>
            <a:ext cx="12154274" cy="336590"/>
            <a:chOff x="0" y="0"/>
            <a:chExt cx="3201126" cy="88649"/>
          </a:xfrm>
        </p:grpSpPr>
        <p:sp>
          <p:nvSpPr>
            <p:cNvPr name="Freeform 4" id="4"/>
            <p:cNvSpPr/>
            <p:nvPr/>
          </p:nvSpPr>
          <p:spPr>
            <a:xfrm flipH="false" flipV="false" rot="0">
              <a:off x="0" y="0"/>
              <a:ext cx="3201126" cy="88649"/>
            </a:xfrm>
            <a:custGeom>
              <a:avLst/>
              <a:gdLst/>
              <a:ahLst/>
              <a:cxnLst/>
              <a:rect r="r" b="b" t="t" l="l"/>
              <a:pathLst>
                <a:path h="88649" w="3201126">
                  <a:moveTo>
                    <a:pt x="0" y="0"/>
                  </a:moveTo>
                  <a:lnTo>
                    <a:pt x="3201126" y="0"/>
                  </a:lnTo>
                  <a:lnTo>
                    <a:pt x="3201126" y="88649"/>
                  </a:lnTo>
                  <a:lnTo>
                    <a:pt x="0" y="88649"/>
                  </a:lnTo>
                  <a:close/>
                </a:path>
              </a:pathLst>
            </a:custGeom>
            <a:solidFill>
              <a:srgbClr val="004AAD"/>
            </a:solidFill>
          </p:spPr>
        </p:sp>
        <p:sp>
          <p:nvSpPr>
            <p:cNvPr name="TextBox 5" id="5"/>
            <p:cNvSpPr txBox="true"/>
            <p:nvPr/>
          </p:nvSpPr>
          <p:spPr>
            <a:xfrm>
              <a:off x="0" y="-47625"/>
              <a:ext cx="3201126" cy="136274"/>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964009" y="1495577"/>
            <a:ext cx="11542119" cy="8582348"/>
          </a:xfrm>
          <a:custGeom>
            <a:avLst/>
            <a:gdLst/>
            <a:ahLst/>
            <a:cxnLst/>
            <a:rect r="r" b="b" t="t" l="l"/>
            <a:pathLst>
              <a:path h="8582348" w="11542119">
                <a:moveTo>
                  <a:pt x="0" y="0"/>
                </a:moveTo>
                <a:lnTo>
                  <a:pt x="11542119" y="0"/>
                </a:lnTo>
                <a:lnTo>
                  <a:pt x="11542119" y="8582348"/>
                </a:lnTo>
                <a:lnTo>
                  <a:pt x="0" y="8582348"/>
                </a:lnTo>
                <a:lnTo>
                  <a:pt x="0" y="0"/>
                </a:lnTo>
                <a:close/>
              </a:path>
            </a:pathLst>
          </a:custGeom>
          <a:blipFill>
            <a:blip r:embed="rId3"/>
            <a:stretch>
              <a:fillRect l="0" t="-13888" r="0" b="-18804"/>
            </a:stretch>
          </a:blipFill>
        </p:spPr>
      </p:sp>
      <p:sp>
        <p:nvSpPr>
          <p:cNvPr name="TextBox 7" id="7"/>
          <p:cNvSpPr txBox="true"/>
          <p:nvPr/>
        </p:nvSpPr>
        <p:spPr>
          <a:xfrm rot="0">
            <a:off x="4956681" y="209009"/>
            <a:ext cx="7556774" cy="646214"/>
          </a:xfrm>
          <a:prstGeom prst="rect">
            <a:avLst/>
          </a:prstGeom>
        </p:spPr>
        <p:txBody>
          <a:bodyPr anchor="t" rtlCol="false" tIns="0" lIns="0" bIns="0" rIns="0">
            <a:spAutoFit/>
          </a:bodyPr>
          <a:lstStyle/>
          <a:p>
            <a:pPr algn="just">
              <a:lnSpc>
                <a:spcPts val="5331"/>
              </a:lnSpc>
            </a:pPr>
            <a:r>
              <a:rPr lang="en-US" sz="3808">
                <a:solidFill>
                  <a:srgbClr val="004AAD"/>
                </a:solidFill>
                <a:latin typeface="League Spartan"/>
                <a:ea typeface="League Spartan"/>
                <a:cs typeface="League Spartan"/>
                <a:sym typeface="League Spartan"/>
              </a:rPr>
              <a:t>CONCEPTUAL FRAMEWORK</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1543773"/>
            <a:ext cx="18288000" cy="880730"/>
            <a:chOff x="0" y="0"/>
            <a:chExt cx="4816593" cy="231962"/>
          </a:xfrm>
        </p:grpSpPr>
        <p:sp>
          <p:nvSpPr>
            <p:cNvPr name="Freeform 4" id="4"/>
            <p:cNvSpPr/>
            <p:nvPr/>
          </p:nvSpPr>
          <p:spPr>
            <a:xfrm flipH="false" flipV="false" rot="0">
              <a:off x="0" y="0"/>
              <a:ext cx="4816592" cy="231962"/>
            </a:xfrm>
            <a:custGeom>
              <a:avLst/>
              <a:gdLst/>
              <a:ahLst/>
              <a:cxnLst/>
              <a:rect r="r" b="b" t="t" l="l"/>
              <a:pathLst>
                <a:path h="231962" w="4816592">
                  <a:moveTo>
                    <a:pt x="0" y="0"/>
                  </a:moveTo>
                  <a:lnTo>
                    <a:pt x="4816592" y="0"/>
                  </a:lnTo>
                  <a:lnTo>
                    <a:pt x="4816592" y="231962"/>
                  </a:lnTo>
                  <a:lnTo>
                    <a:pt x="0" y="231962"/>
                  </a:lnTo>
                  <a:close/>
                </a:path>
              </a:pathLst>
            </a:custGeom>
            <a:solidFill>
              <a:srgbClr val="004AAD"/>
            </a:solidFill>
          </p:spPr>
        </p:sp>
        <p:sp>
          <p:nvSpPr>
            <p:cNvPr name="TextBox 5" id="5"/>
            <p:cNvSpPr txBox="true"/>
            <p:nvPr/>
          </p:nvSpPr>
          <p:spPr>
            <a:xfrm>
              <a:off x="0" y="-47625"/>
              <a:ext cx="4816593" cy="27958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8465316" y="541655"/>
            <a:ext cx="5906411" cy="878840"/>
          </a:xfrm>
          <a:prstGeom prst="rect">
            <a:avLst/>
          </a:prstGeom>
        </p:spPr>
        <p:txBody>
          <a:bodyPr anchor="t" rtlCol="false" tIns="0" lIns="0" bIns="0" rIns="0">
            <a:spAutoFit/>
          </a:bodyPr>
          <a:lstStyle/>
          <a:p>
            <a:pPr algn="l">
              <a:lnSpc>
                <a:spcPts val="7210"/>
              </a:lnSpc>
            </a:pPr>
            <a:r>
              <a:rPr lang="en-US" sz="5150">
                <a:solidFill>
                  <a:srgbClr val="004AAD"/>
                </a:solidFill>
                <a:latin typeface="League Spartan"/>
                <a:ea typeface="League Spartan"/>
                <a:cs typeface="League Spartan"/>
                <a:sym typeface="League Spartan"/>
              </a:rPr>
              <a:t>OF THE STUDY </a:t>
            </a:r>
          </a:p>
        </p:txBody>
      </p:sp>
      <p:sp>
        <p:nvSpPr>
          <p:cNvPr name="TextBox 7" id="7"/>
          <p:cNvSpPr txBox="true"/>
          <p:nvPr/>
        </p:nvSpPr>
        <p:spPr>
          <a:xfrm rot="0">
            <a:off x="2939485" y="411260"/>
            <a:ext cx="5634574" cy="897853"/>
          </a:xfrm>
          <a:prstGeom prst="rect">
            <a:avLst/>
          </a:prstGeom>
        </p:spPr>
        <p:txBody>
          <a:bodyPr anchor="t" rtlCol="false" tIns="0" lIns="0" bIns="0" rIns="0">
            <a:spAutoFit/>
          </a:bodyPr>
          <a:lstStyle/>
          <a:p>
            <a:pPr algn="l">
              <a:lnSpc>
                <a:spcPts val="7212"/>
              </a:lnSpc>
            </a:pPr>
            <a:r>
              <a:rPr lang="en-US" b="true" sz="5151">
                <a:solidFill>
                  <a:srgbClr val="000000"/>
                </a:solidFill>
                <a:latin typeface="Roboto Bold"/>
                <a:ea typeface="Roboto Bold"/>
                <a:cs typeface="Roboto Bold"/>
                <a:sym typeface="Roboto Bold"/>
              </a:rPr>
              <a:t>TIME AND PLACE </a:t>
            </a:r>
          </a:p>
        </p:txBody>
      </p:sp>
      <p:sp>
        <p:nvSpPr>
          <p:cNvPr name="TextBox 8" id="8"/>
          <p:cNvSpPr txBox="true"/>
          <p:nvPr/>
        </p:nvSpPr>
        <p:spPr>
          <a:xfrm rot="0">
            <a:off x="2213823" y="2802431"/>
            <a:ext cx="9366334" cy="1473540"/>
          </a:xfrm>
          <a:prstGeom prst="rect">
            <a:avLst/>
          </a:prstGeom>
        </p:spPr>
        <p:txBody>
          <a:bodyPr anchor="t" rtlCol="false" tIns="0" lIns="0" bIns="0" rIns="0">
            <a:spAutoFit/>
          </a:bodyPr>
          <a:lstStyle/>
          <a:p>
            <a:pPr algn="l">
              <a:lnSpc>
                <a:spcPts val="3825"/>
              </a:lnSpc>
            </a:pPr>
            <a:r>
              <a:rPr lang="en-US" sz="2732">
                <a:solidFill>
                  <a:srgbClr val="000000"/>
                </a:solidFill>
                <a:latin typeface="Poppins"/>
                <a:ea typeface="Poppins"/>
                <a:cs typeface="Poppins"/>
                <a:sym typeface="Poppins"/>
              </a:rPr>
              <a:t>L</a:t>
            </a:r>
            <a:r>
              <a:rPr lang="en-US" sz="2732">
                <a:solidFill>
                  <a:srgbClr val="000000"/>
                </a:solidFill>
                <a:latin typeface="Poppins"/>
                <a:ea typeface="Poppins"/>
                <a:cs typeface="Poppins"/>
                <a:sym typeface="Poppins"/>
              </a:rPr>
              <a:t>ocation: 24/Seven Veterinary Clinic Manggahan Branch</a:t>
            </a:r>
          </a:p>
          <a:p>
            <a:pPr algn="l">
              <a:lnSpc>
                <a:spcPts val="3825"/>
              </a:lnSpc>
              <a:spcBef>
                <a:spcPct val="0"/>
              </a:spcBef>
            </a:pPr>
          </a:p>
        </p:txBody>
      </p:sp>
      <p:sp>
        <p:nvSpPr>
          <p:cNvPr name="TextBox 9" id="9"/>
          <p:cNvSpPr txBox="true"/>
          <p:nvPr/>
        </p:nvSpPr>
        <p:spPr>
          <a:xfrm rot="0">
            <a:off x="2213823" y="4100934"/>
            <a:ext cx="8464839" cy="492633"/>
          </a:xfrm>
          <a:prstGeom prst="rect">
            <a:avLst/>
          </a:prstGeom>
        </p:spPr>
        <p:txBody>
          <a:bodyPr anchor="t" rtlCol="false" tIns="0" lIns="0" bIns="0" rIns="0">
            <a:spAutoFit/>
          </a:bodyPr>
          <a:lstStyle/>
          <a:p>
            <a:pPr algn="l">
              <a:lnSpc>
                <a:spcPts val="3821"/>
              </a:lnSpc>
              <a:spcBef>
                <a:spcPct val="0"/>
              </a:spcBef>
            </a:pPr>
            <a:r>
              <a:rPr lang="en-US" sz="2729">
                <a:solidFill>
                  <a:srgbClr val="000000"/>
                </a:solidFill>
                <a:latin typeface="Poppins"/>
                <a:ea typeface="Poppins"/>
                <a:cs typeface="Poppins"/>
                <a:sym typeface="Poppins"/>
              </a:rPr>
              <a:t>Ti</a:t>
            </a:r>
            <a:r>
              <a:rPr lang="en-US" sz="2729">
                <a:solidFill>
                  <a:srgbClr val="000000"/>
                </a:solidFill>
                <a:latin typeface="Poppins"/>
                <a:ea typeface="Poppins"/>
                <a:cs typeface="Poppins"/>
                <a:sym typeface="Poppins"/>
              </a:rPr>
              <a:t>meline: Academic Year of 2025 - 2026</a:t>
            </a:r>
          </a:p>
        </p:txBody>
      </p:sp>
      <p:sp>
        <p:nvSpPr>
          <p:cNvPr name="TextBox 10" id="10"/>
          <p:cNvSpPr txBox="true"/>
          <p:nvPr/>
        </p:nvSpPr>
        <p:spPr>
          <a:xfrm rot="0">
            <a:off x="2166198" y="6782692"/>
            <a:ext cx="8464839" cy="968883"/>
          </a:xfrm>
          <a:prstGeom prst="rect">
            <a:avLst/>
          </a:prstGeom>
        </p:spPr>
        <p:txBody>
          <a:bodyPr anchor="t" rtlCol="false" tIns="0" lIns="0" bIns="0" rIns="0">
            <a:spAutoFit/>
          </a:bodyPr>
          <a:lstStyle/>
          <a:p>
            <a:pPr algn="l">
              <a:lnSpc>
                <a:spcPts val="3821"/>
              </a:lnSpc>
              <a:spcBef>
                <a:spcPct val="0"/>
              </a:spcBef>
            </a:pPr>
            <a:r>
              <a:rPr lang="en-US" sz="2729">
                <a:solidFill>
                  <a:srgbClr val="000000"/>
                </a:solidFill>
                <a:latin typeface="Poppins"/>
                <a:ea typeface="Poppins"/>
                <a:cs typeface="Poppins"/>
                <a:sym typeface="Poppins"/>
              </a:rPr>
              <a:t>M</a:t>
            </a:r>
            <a:r>
              <a:rPr lang="en-US" sz="2729">
                <a:solidFill>
                  <a:srgbClr val="000000"/>
                </a:solidFill>
                <a:latin typeface="Poppins"/>
                <a:ea typeface="Poppins"/>
                <a:cs typeface="Poppins"/>
                <a:sym typeface="Poppins"/>
              </a:rPr>
              <a:t>ar - May: Initial Testing, Use Case Testing Data Gathering,</a:t>
            </a:r>
          </a:p>
        </p:txBody>
      </p:sp>
      <p:sp>
        <p:nvSpPr>
          <p:cNvPr name="TextBox 11" id="11"/>
          <p:cNvSpPr txBox="true"/>
          <p:nvPr/>
        </p:nvSpPr>
        <p:spPr>
          <a:xfrm rot="0">
            <a:off x="2213823" y="5218328"/>
            <a:ext cx="8464839" cy="968883"/>
          </a:xfrm>
          <a:prstGeom prst="rect">
            <a:avLst/>
          </a:prstGeom>
        </p:spPr>
        <p:txBody>
          <a:bodyPr anchor="t" rtlCol="false" tIns="0" lIns="0" bIns="0" rIns="0">
            <a:spAutoFit/>
          </a:bodyPr>
          <a:lstStyle/>
          <a:p>
            <a:pPr algn="l">
              <a:lnSpc>
                <a:spcPts val="3821"/>
              </a:lnSpc>
              <a:spcBef>
                <a:spcPct val="0"/>
              </a:spcBef>
            </a:pPr>
            <a:r>
              <a:rPr lang="en-US" sz="2729">
                <a:solidFill>
                  <a:srgbClr val="000000"/>
                </a:solidFill>
                <a:latin typeface="Poppins"/>
                <a:ea typeface="Poppins"/>
                <a:cs typeface="Poppins"/>
                <a:sym typeface="Poppins"/>
              </a:rPr>
              <a:t>J</a:t>
            </a:r>
            <a:r>
              <a:rPr lang="en-US" sz="2729">
                <a:solidFill>
                  <a:srgbClr val="000000"/>
                </a:solidFill>
                <a:latin typeface="Poppins"/>
                <a:ea typeface="Poppins"/>
                <a:cs typeface="Poppins"/>
                <a:sym typeface="Poppins"/>
              </a:rPr>
              <a:t>an - Feb: Feature planning, System Design, System Development</a:t>
            </a:r>
          </a:p>
        </p:txBody>
      </p:sp>
      <p:sp>
        <p:nvSpPr>
          <p:cNvPr name="TextBox 12" id="12"/>
          <p:cNvSpPr txBox="true"/>
          <p:nvPr/>
        </p:nvSpPr>
        <p:spPr>
          <a:xfrm rot="0">
            <a:off x="1048520" y="2821481"/>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
        <p:nvSpPr>
          <p:cNvPr name="TextBox 13" id="13"/>
          <p:cNvSpPr txBox="true"/>
          <p:nvPr/>
        </p:nvSpPr>
        <p:spPr>
          <a:xfrm rot="0">
            <a:off x="1028700" y="3927002"/>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
        <p:nvSpPr>
          <p:cNvPr name="TextBox 14" id="14"/>
          <p:cNvSpPr txBox="true"/>
          <p:nvPr/>
        </p:nvSpPr>
        <p:spPr>
          <a:xfrm rot="0">
            <a:off x="1028700" y="5199278"/>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
        <p:nvSpPr>
          <p:cNvPr name="TextBox 15" id="15"/>
          <p:cNvSpPr txBox="true"/>
          <p:nvPr/>
        </p:nvSpPr>
        <p:spPr>
          <a:xfrm rot="0">
            <a:off x="1048520" y="6796980"/>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
        <p:nvSpPr>
          <p:cNvPr name="TextBox 16" id="16"/>
          <p:cNvSpPr txBox="true"/>
          <p:nvPr/>
        </p:nvSpPr>
        <p:spPr>
          <a:xfrm rot="0">
            <a:off x="2156673" y="8413732"/>
            <a:ext cx="8464839" cy="968883"/>
          </a:xfrm>
          <a:prstGeom prst="rect">
            <a:avLst/>
          </a:prstGeom>
        </p:spPr>
        <p:txBody>
          <a:bodyPr anchor="t" rtlCol="false" tIns="0" lIns="0" bIns="0" rIns="0">
            <a:spAutoFit/>
          </a:bodyPr>
          <a:lstStyle/>
          <a:p>
            <a:pPr algn="l">
              <a:lnSpc>
                <a:spcPts val="3821"/>
              </a:lnSpc>
              <a:spcBef>
                <a:spcPct val="0"/>
              </a:spcBef>
            </a:pPr>
            <a:r>
              <a:rPr lang="en-US" sz="2729">
                <a:solidFill>
                  <a:srgbClr val="000000"/>
                </a:solidFill>
                <a:latin typeface="Poppins"/>
                <a:ea typeface="Poppins"/>
                <a:cs typeface="Poppins"/>
                <a:sym typeface="Poppins"/>
              </a:rPr>
              <a:t>Jun: D</a:t>
            </a:r>
            <a:r>
              <a:rPr lang="en-US" sz="2729">
                <a:solidFill>
                  <a:srgbClr val="000000"/>
                </a:solidFill>
                <a:latin typeface="Poppins"/>
                <a:ea typeface="Poppins"/>
                <a:cs typeface="Poppins"/>
                <a:sym typeface="Poppins"/>
              </a:rPr>
              <a:t>ata Analysis, Final Documentation, Maintenance</a:t>
            </a:r>
          </a:p>
        </p:txBody>
      </p:sp>
      <p:sp>
        <p:nvSpPr>
          <p:cNvPr name="TextBox 17" id="17"/>
          <p:cNvSpPr txBox="true"/>
          <p:nvPr/>
        </p:nvSpPr>
        <p:spPr>
          <a:xfrm rot="0">
            <a:off x="1048520" y="8400283"/>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373611"/>
            <a:ext cx="6294884" cy="9058931"/>
            <a:chOff x="0" y="0"/>
            <a:chExt cx="1657912" cy="2385891"/>
          </a:xfrm>
        </p:grpSpPr>
        <p:sp>
          <p:nvSpPr>
            <p:cNvPr name="Freeform 4" id="4"/>
            <p:cNvSpPr/>
            <p:nvPr/>
          </p:nvSpPr>
          <p:spPr>
            <a:xfrm flipH="false" flipV="false" rot="0">
              <a:off x="0" y="0"/>
              <a:ext cx="1657912" cy="2385891"/>
            </a:xfrm>
            <a:custGeom>
              <a:avLst/>
              <a:gdLst/>
              <a:ahLst/>
              <a:cxnLst/>
              <a:rect r="r" b="b" t="t" l="l"/>
              <a:pathLst>
                <a:path h="2385891" w="1657912">
                  <a:moveTo>
                    <a:pt x="62724" y="0"/>
                  </a:moveTo>
                  <a:lnTo>
                    <a:pt x="1595188" y="0"/>
                  </a:lnTo>
                  <a:cubicBezTo>
                    <a:pt x="1611824" y="0"/>
                    <a:pt x="1627778" y="6608"/>
                    <a:pt x="1639541" y="18371"/>
                  </a:cubicBezTo>
                  <a:cubicBezTo>
                    <a:pt x="1651304" y="30134"/>
                    <a:pt x="1657912" y="46088"/>
                    <a:pt x="1657912" y="62724"/>
                  </a:cubicBezTo>
                  <a:lnTo>
                    <a:pt x="1657912" y="2323167"/>
                  </a:lnTo>
                  <a:cubicBezTo>
                    <a:pt x="1657912" y="2339803"/>
                    <a:pt x="1651304" y="2355757"/>
                    <a:pt x="1639541" y="2367520"/>
                  </a:cubicBezTo>
                  <a:cubicBezTo>
                    <a:pt x="1627778" y="2379283"/>
                    <a:pt x="1611824" y="2385891"/>
                    <a:pt x="1595188" y="2385891"/>
                  </a:cubicBezTo>
                  <a:lnTo>
                    <a:pt x="62724" y="2385891"/>
                  </a:lnTo>
                  <a:cubicBezTo>
                    <a:pt x="46088" y="2385891"/>
                    <a:pt x="30134" y="2379283"/>
                    <a:pt x="18371" y="2367520"/>
                  </a:cubicBezTo>
                  <a:cubicBezTo>
                    <a:pt x="6608" y="2355757"/>
                    <a:pt x="0" y="2339803"/>
                    <a:pt x="0" y="2323167"/>
                  </a:cubicBezTo>
                  <a:lnTo>
                    <a:pt x="0" y="62724"/>
                  </a:lnTo>
                  <a:cubicBezTo>
                    <a:pt x="0" y="46088"/>
                    <a:pt x="6608" y="30134"/>
                    <a:pt x="18371" y="18371"/>
                  </a:cubicBezTo>
                  <a:cubicBezTo>
                    <a:pt x="30134" y="6608"/>
                    <a:pt x="46088" y="0"/>
                    <a:pt x="62724" y="0"/>
                  </a:cubicBezTo>
                  <a:close/>
                </a:path>
              </a:pathLst>
            </a:custGeom>
            <a:solidFill>
              <a:srgbClr val="004AAD"/>
            </a:solidFill>
          </p:spPr>
        </p:sp>
        <p:sp>
          <p:nvSpPr>
            <p:cNvPr name="TextBox 5" id="5"/>
            <p:cNvSpPr txBox="true"/>
            <p:nvPr/>
          </p:nvSpPr>
          <p:spPr>
            <a:xfrm>
              <a:off x="0" y="-47625"/>
              <a:ext cx="1657912" cy="243351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45982" y="2703829"/>
            <a:ext cx="4243380" cy="912915"/>
          </a:xfrm>
          <a:prstGeom prst="rect">
            <a:avLst/>
          </a:prstGeom>
        </p:spPr>
        <p:txBody>
          <a:bodyPr anchor="t" rtlCol="false" tIns="0" lIns="0" bIns="0" rIns="0">
            <a:spAutoFit/>
          </a:bodyPr>
          <a:lstStyle/>
          <a:p>
            <a:pPr algn="l">
              <a:lnSpc>
                <a:spcPts val="7431"/>
              </a:lnSpc>
            </a:pPr>
            <a:r>
              <a:rPr lang="en-US" b="true" sz="5308">
                <a:solidFill>
                  <a:srgbClr val="F3F3F3"/>
                </a:solidFill>
                <a:latin typeface="League Spartan"/>
                <a:ea typeface="League Spartan"/>
                <a:cs typeface="League Spartan"/>
                <a:sym typeface="League Spartan"/>
              </a:rPr>
              <a:t>SCOPE</a:t>
            </a:r>
          </a:p>
        </p:txBody>
      </p:sp>
      <p:sp>
        <p:nvSpPr>
          <p:cNvPr name="TextBox 7" id="7"/>
          <p:cNvSpPr txBox="true"/>
          <p:nvPr/>
        </p:nvSpPr>
        <p:spPr>
          <a:xfrm rot="0">
            <a:off x="143295" y="3630838"/>
            <a:ext cx="5634574" cy="897853"/>
          </a:xfrm>
          <a:prstGeom prst="rect">
            <a:avLst/>
          </a:prstGeom>
        </p:spPr>
        <p:txBody>
          <a:bodyPr anchor="t" rtlCol="false" tIns="0" lIns="0" bIns="0" rIns="0">
            <a:spAutoFit/>
          </a:bodyPr>
          <a:lstStyle/>
          <a:p>
            <a:pPr algn="l">
              <a:lnSpc>
                <a:spcPts val="7212"/>
              </a:lnSpc>
            </a:pPr>
            <a:r>
              <a:rPr lang="en-US" b="true" sz="5151">
                <a:solidFill>
                  <a:srgbClr val="000000"/>
                </a:solidFill>
                <a:latin typeface="Roboto Bold"/>
                <a:ea typeface="Roboto Bold"/>
                <a:cs typeface="Roboto Bold"/>
                <a:sym typeface="Roboto Bold"/>
              </a:rPr>
              <a:t> OF THE STUDY</a:t>
            </a:r>
            <a:r>
              <a:rPr lang="en-US" sz="5151">
                <a:solidFill>
                  <a:srgbClr val="000000"/>
                </a:solidFill>
                <a:latin typeface="Roboto"/>
                <a:ea typeface="Roboto"/>
                <a:cs typeface="Roboto"/>
                <a:sym typeface="Roboto"/>
              </a:rPr>
              <a:t> </a:t>
            </a:r>
          </a:p>
        </p:txBody>
      </p:sp>
      <p:grpSp>
        <p:nvGrpSpPr>
          <p:cNvPr name="Group 8" id="8"/>
          <p:cNvGrpSpPr/>
          <p:nvPr/>
        </p:nvGrpSpPr>
        <p:grpSpPr>
          <a:xfrm rot="0">
            <a:off x="445982" y="4969789"/>
            <a:ext cx="2514600" cy="260350"/>
            <a:chOff x="0" y="0"/>
            <a:chExt cx="662281" cy="68570"/>
          </a:xfrm>
        </p:grpSpPr>
        <p:sp>
          <p:nvSpPr>
            <p:cNvPr name="Freeform 9" id="9"/>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7DA5DE"/>
            </a:solidFill>
          </p:spPr>
        </p:sp>
        <p:sp>
          <p:nvSpPr>
            <p:cNvPr name="TextBox 10" id="10"/>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7892966" y="785846"/>
            <a:ext cx="9366334" cy="1354683"/>
          </a:xfrm>
          <a:prstGeom prst="rect">
            <a:avLst/>
          </a:prstGeom>
        </p:spPr>
        <p:txBody>
          <a:bodyPr anchor="t" rtlCol="false" tIns="0" lIns="0" bIns="0" rIns="0">
            <a:spAutoFit/>
          </a:bodyPr>
          <a:lstStyle/>
          <a:p>
            <a:pPr algn="l">
              <a:lnSpc>
                <a:spcPts val="3545"/>
              </a:lnSpc>
              <a:spcBef>
                <a:spcPct val="0"/>
              </a:spcBef>
            </a:pPr>
            <a:r>
              <a:rPr lang="en-US" sz="2532">
                <a:solidFill>
                  <a:srgbClr val="000000"/>
                </a:solidFill>
                <a:latin typeface="Poppins"/>
                <a:ea typeface="Poppins"/>
                <a:cs typeface="Poppins"/>
                <a:sym typeface="Poppins"/>
              </a:rPr>
              <a:t>Dev</a:t>
            </a:r>
            <a:r>
              <a:rPr lang="en-US" sz="2532">
                <a:solidFill>
                  <a:srgbClr val="000000"/>
                </a:solidFill>
                <a:latin typeface="Poppins"/>
                <a:ea typeface="Poppins"/>
                <a:cs typeface="Poppins"/>
                <a:sym typeface="Poppins"/>
              </a:rPr>
              <a:t>elops a Smart SMS and Email Reminder System with time-based triggers for veterinary patient follow-up appointments. </a:t>
            </a:r>
          </a:p>
        </p:txBody>
      </p:sp>
      <p:sp>
        <p:nvSpPr>
          <p:cNvPr name="TextBox 12" id="12"/>
          <p:cNvSpPr txBox="true"/>
          <p:nvPr/>
        </p:nvSpPr>
        <p:spPr>
          <a:xfrm rot="0">
            <a:off x="7892966" y="2526022"/>
            <a:ext cx="8464839" cy="907139"/>
          </a:xfrm>
          <a:prstGeom prst="rect">
            <a:avLst/>
          </a:prstGeom>
        </p:spPr>
        <p:txBody>
          <a:bodyPr anchor="t" rtlCol="false" tIns="0" lIns="0" bIns="0" rIns="0">
            <a:spAutoFit/>
          </a:bodyPr>
          <a:lstStyle/>
          <a:p>
            <a:pPr algn="l">
              <a:lnSpc>
                <a:spcPts val="3541"/>
              </a:lnSpc>
              <a:spcBef>
                <a:spcPct val="0"/>
              </a:spcBef>
            </a:pPr>
            <a:r>
              <a:rPr lang="en-US" sz="2529">
                <a:solidFill>
                  <a:srgbClr val="000000"/>
                </a:solidFill>
                <a:latin typeface="Poppins"/>
                <a:ea typeface="Poppins"/>
                <a:cs typeface="Poppins"/>
                <a:sym typeface="Poppins"/>
              </a:rPr>
              <a:t>Au</a:t>
            </a:r>
            <a:r>
              <a:rPr lang="en-US" sz="2529">
                <a:solidFill>
                  <a:srgbClr val="000000"/>
                </a:solidFill>
                <a:latin typeface="Poppins"/>
                <a:ea typeface="Poppins"/>
                <a:cs typeface="Poppins"/>
                <a:sym typeface="Poppins"/>
              </a:rPr>
              <a:t>tomates notifications to pet owners via SMS and email for upcoming and scheduled veterinary dates. </a:t>
            </a:r>
          </a:p>
        </p:txBody>
      </p:sp>
      <p:sp>
        <p:nvSpPr>
          <p:cNvPr name="TextBox 13" id="13"/>
          <p:cNvSpPr txBox="true"/>
          <p:nvPr/>
        </p:nvSpPr>
        <p:spPr>
          <a:xfrm rot="0">
            <a:off x="7892966" y="6044104"/>
            <a:ext cx="8464839" cy="1354740"/>
          </a:xfrm>
          <a:prstGeom prst="rect">
            <a:avLst/>
          </a:prstGeom>
        </p:spPr>
        <p:txBody>
          <a:bodyPr anchor="t" rtlCol="false" tIns="0" lIns="0" bIns="0" rIns="0">
            <a:spAutoFit/>
          </a:bodyPr>
          <a:lstStyle/>
          <a:p>
            <a:pPr algn="l">
              <a:lnSpc>
                <a:spcPts val="3541"/>
              </a:lnSpc>
              <a:spcBef>
                <a:spcPct val="0"/>
              </a:spcBef>
            </a:pPr>
            <a:r>
              <a:rPr lang="en-US" sz="2529">
                <a:solidFill>
                  <a:srgbClr val="000000"/>
                </a:solidFill>
                <a:latin typeface="Poppins"/>
                <a:ea typeface="Poppins"/>
                <a:cs typeface="Poppins"/>
                <a:sym typeface="Poppins"/>
              </a:rPr>
              <a:t>In</a:t>
            </a:r>
            <a:r>
              <a:rPr lang="en-US" sz="2529">
                <a:solidFill>
                  <a:srgbClr val="000000"/>
                </a:solidFill>
                <a:latin typeface="Poppins"/>
                <a:ea typeface="Poppins"/>
                <a:cs typeface="Poppins"/>
                <a:sym typeface="Poppins"/>
              </a:rPr>
              <a:t>cludes basic appointment management functionalities to simplify scheduling for veterinary personnel.</a:t>
            </a:r>
          </a:p>
        </p:txBody>
      </p:sp>
      <p:sp>
        <p:nvSpPr>
          <p:cNvPr name="TextBox 14" id="14"/>
          <p:cNvSpPr txBox="true"/>
          <p:nvPr/>
        </p:nvSpPr>
        <p:spPr>
          <a:xfrm rot="0">
            <a:off x="7892966" y="4060714"/>
            <a:ext cx="8464839" cy="1354740"/>
          </a:xfrm>
          <a:prstGeom prst="rect">
            <a:avLst/>
          </a:prstGeom>
        </p:spPr>
        <p:txBody>
          <a:bodyPr anchor="t" rtlCol="false" tIns="0" lIns="0" bIns="0" rIns="0">
            <a:spAutoFit/>
          </a:bodyPr>
          <a:lstStyle/>
          <a:p>
            <a:pPr algn="l">
              <a:lnSpc>
                <a:spcPts val="3541"/>
              </a:lnSpc>
              <a:spcBef>
                <a:spcPct val="0"/>
              </a:spcBef>
            </a:pPr>
            <a:r>
              <a:rPr lang="en-US" sz="2529">
                <a:solidFill>
                  <a:srgbClr val="000000"/>
                </a:solidFill>
                <a:latin typeface="Poppins"/>
                <a:ea typeface="Poppins"/>
                <a:cs typeface="Poppins"/>
                <a:sym typeface="Poppins"/>
              </a:rPr>
              <a:t>F</a:t>
            </a:r>
            <a:r>
              <a:rPr lang="en-US" sz="2529">
                <a:solidFill>
                  <a:srgbClr val="000000"/>
                </a:solidFill>
                <a:latin typeface="Poppins"/>
                <a:ea typeface="Poppins"/>
                <a:cs typeface="Poppins"/>
                <a:sym typeface="Poppins"/>
              </a:rPr>
              <a:t>acilitates communication between clients and clinics to increase compliance and reduce missed appointments.</a:t>
            </a:r>
          </a:p>
        </p:txBody>
      </p:sp>
      <p:sp>
        <p:nvSpPr>
          <p:cNvPr name="TextBox 15" id="15"/>
          <p:cNvSpPr txBox="true"/>
          <p:nvPr/>
        </p:nvSpPr>
        <p:spPr>
          <a:xfrm rot="0">
            <a:off x="6707843" y="923925"/>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
        <p:nvSpPr>
          <p:cNvPr name="TextBox 16" id="16"/>
          <p:cNvSpPr txBox="true"/>
          <p:nvPr/>
        </p:nvSpPr>
        <p:spPr>
          <a:xfrm rot="0">
            <a:off x="6688023" y="2461588"/>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
        <p:nvSpPr>
          <p:cNvPr name="TextBox 17" id="17"/>
          <p:cNvSpPr txBox="true"/>
          <p:nvPr/>
        </p:nvSpPr>
        <p:spPr>
          <a:xfrm rot="0">
            <a:off x="6707843" y="4033236"/>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
        <p:nvSpPr>
          <p:cNvPr name="TextBox 18" id="18"/>
          <p:cNvSpPr txBox="true"/>
          <p:nvPr/>
        </p:nvSpPr>
        <p:spPr>
          <a:xfrm rot="0">
            <a:off x="6707843" y="6238910"/>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06450" y="806450"/>
            <a:ext cx="5766360" cy="8674100"/>
            <a:chOff x="0" y="0"/>
            <a:chExt cx="1518712" cy="2284537"/>
          </a:xfrm>
        </p:grpSpPr>
        <p:sp>
          <p:nvSpPr>
            <p:cNvPr name="Freeform 4" id="4"/>
            <p:cNvSpPr/>
            <p:nvPr/>
          </p:nvSpPr>
          <p:spPr>
            <a:xfrm flipH="false" flipV="false" rot="0">
              <a:off x="0" y="0"/>
              <a:ext cx="1518712" cy="2284537"/>
            </a:xfrm>
            <a:custGeom>
              <a:avLst/>
              <a:gdLst/>
              <a:ahLst/>
              <a:cxnLst/>
              <a:rect r="r" b="b" t="t" l="l"/>
              <a:pathLst>
                <a:path h="2284537" w="1518712">
                  <a:moveTo>
                    <a:pt x="68473" y="0"/>
                  </a:moveTo>
                  <a:lnTo>
                    <a:pt x="1450239" y="0"/>
                  </a:lnTo>
                  <a:cubicBezTo>
                    <a:pt x="1488056" y="0"/>
                    <a:pt x="1518712" y="30656"/>
                    <a:pt x="1518712" y="68473"/>
                  </a:cubicBezTo>
                  <a:lnTo>
                    <a:pt x="1518712" y="2216064"/>
                  </a:lnTo>
                  <a:cubicBezTo>
                    <a:pt x="1518712" y="2253880"/>
                    <a:pt x="1488056" y="2284537"/>
                    <a:pt x="1450239" y="2284537"/>
                  </a:cubicBezTo>
                  <a:lnTo>
                    <a:pt x="68473" y="2284537"/>
                  </a:lnTo>
                  <a:cubicBezTo>
                    <a:pt x="50313" y="2284537"/>
                    <a:pt x="32896" y="2277323"/>
                    <a:pt x="20055" y="2264482"/>
                  </a:cubicBezTo>
                  <a:cubicBezTo>
                    <a:pt x="7214" y="2251640"/>
                    <a:pt x="0" y="2234224"/>
                    <a:pt x="0" y="2216064"/>
                  </a:cubicBezTo>
                  <a:lnTo>
                    <a:pt x="0" y="68473"/>
                  </a:lnTo>
                  <a:cubicBezTo>
                    <a:pt x="0" y="50313"/>
                    <a:pt x="7214" y="32896"/>
                    <a:pt x="20055" y="20055"/>
                  </a:cubicBezTo>
                  <a:cubicBezTo>
                    <a:pt x="32896" y="7214"/>
                    <a:pt x="50313" y="0"/>
                    <a:pt x="68473" y="0"/>
                  </a:cubicBezTo>
                  <a:close/>
                </a:path>
              </a:pathLst>
            </a:custGeom>
            <a:solidFill>
              <a:srgbClr val="004AAD"/>
            </a:solidFill>
          </p:spPr>
        </p:sp>
        <p:sp>
          <p:nvSpPr>
            <p:cNvPr name="TextBox 5" id="5"/>
            <p:cNvSpPr txBox="true"/>
            <p:nvPr/>
          </p:nvSpPr>
          <p:spPr>
            <a:xfrm>
              <a:off x="0" y="-47625"/>
              <a:ext cx="1518712" cy="233216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7928052" y="631162"/>
            <a:ext cx="8651498" cy="1226860"/>
          </a:xfrm>
          <a:prstGeom prst="rect">
            <a:avLst/>
          </a:prstGeom>
        </p:spPr>
        <p:txBody>
          <a:bodyPr anchor="t" rtlCol="false" tIns="0" lIns="0" bIns="0" rIns="0">
            <a:spAutoFit/>
          </a:bodyPr>
          <a:lstStyle/>
          <a:p>
            <a:pPr algn="l">
              <a:lnSpc>
                <a:spcPts val="3265"/>
              </a:lnSpc>
              <a:spcBef>
                <a:spcPct val="0"/>
              </a:spcBef>
            </a:pPr>
            <a:r>
              <a:rPr lang="en-US" sz="2332">
                <a:solidFill>
                  <a:srgbClr val="000000"/>
                </a:solidFill>
                <a:latin typeface="Poppins"/>
                <a:ea typeface="Poppins"/>
                <a:cs typeface="Poppins"/>
                <a:sym typeface="Poppins"/>
              </a:rPr>
              <a:t>Relies on SMS and email only, excluding other channels like in-app notifications, two-way communication, or phone calls.</a:t>
            </a:r>
          </a:p>
        </p:txBody>
      </p:sp>
      <p:sp>
        <p:nvSpPr>
          <p:cNvPr name="TextBox 7" id="7"/>
          <p:cNvSpPr txBox="true"/>
          <p:nvPr/>
        </p:nvSpPr>
        <p:spPr>
          <a:xfrm rot="0">
            <a:off x="7928052" y="2278728"/>
            <a:ext cx="8464839" cy="1226860"/>
          </a:xfrm>
          <a:prstGeom prst="rect">
            <a:avLst/>
          </a:prstGeom>
        </p:spPr>
        <p:txBody>
          <a:bodyPr anchor="t" rtlCol="false" tIns="0" lIns="0" bIns="0" rIns="0">
            <a:spAutoFit/>
          </a:bodyPr>
          <a:lstStyle/>
          <a:p>
            <a:pPr algn="l">
              <a:lnSpc>
                <a:spcPts val="3265"/>
              </a:lnSpc>
              <a:spcBef>
                <a:spcPct val="0"/>
              </a:spcBef>
            </a:pPr>
            <a:r>
              <a:rPr lang="en-US" sz="2332">
                <a:solidFill>
                  <a:srgbClr val="000000"/>
                </a:solidFill>
                <a:latin typeface="Poppins"/>
                <a:ea typeface="Poppins"/>
                <a:cs typeface="Poppins"/>
                <a:sym typeface="Poppins"/>
              </a:rPr>
              <a:t>Dependent on reliable internet and mobile networks; weak or fluctuating coverage may delay or disrupt message delivery.</a:t>
            </a:r>
          </a:p>
        </p:txBody>
      </p:sp>
      <p:sp>
        <p:nvSpPr>
          <p:cNvPr name="TextBox 8" id="8"/>
          <p:cNvSpPr txBox="true"/>
          <p:nvPr/>
        </p:nvSpPr>
        <p:spPr>
          <a:xfrm rot="0">
            <a:off x="7928052" y="8476873"/>
            <a:ext cx="8692978" cy="817210"/>
          </a:xfrm>
          <a:prstGeom prst="rect">
            <a:avLst/>
          </a:prstGeom>
        </p:spPr>
        <p:txBody>
          <a:bodyPr anchor="t" rtlCol="false" tIns="0" lIns="0" bIns="0" rIns="0">
            <a:spAutoFit/>
          </a:bodyPr>
          <a:lstStyle/>
          <a:p>
            <a:pPr algn="l">
              <a:lnSpc>
                <a:spcPts val="3265"/>
              </a:lnSpc>
              <a:spcBef>
                <a:spcPct val="0"/>
              </a:spcBef>
            </a:pPr>
            <a:r>
              <a:rPr lang="en-US" sz="2332">
                <a:solidFill>
                  <a:srgbClr val="000000"/>
                </a:solidFill>
                <a:latin typeface="Poppins"/>
                <a:ea typeface="Poppins"/>
                <a:cs typeface="Poppins"/>
                <a:sym typeface="Poppins"/>
              </a:rPr>
              <a:t>Implementation and evaluation limited 24/seven veterinary clinic.</a:t>
            </a:r>
          </a:p>
        </p:txBody>
      </p:sp>
      <p:sp>
        <p:nvSpPr>
          <p:cNvPr name="TextBox 9" id="9"/>
          <p:cNvSpPr txBox="true"/>
          <p:nvPr/>
        </p:nvSpPr>
        <p:spPr>
          <a:xfrm rot="0">
            <a:off x="7928052" y="5184570"/>
            <a:ext cx="8464839" cy="817210"/>
          </a:xfrm>
          <a:prstGeom prst="rect">
            <a:avLst/>
          </a:prstGeom>
        </p:spPr>
        <p:txBody>
          <a:bodyPr anchor="t" rtlCol="false" tIns="0" lIns="0" bIns="0" rIns="0">
            <a:spAutoFit/>
          </a:bodyPr>
          <a:lstStyle/>
          <a:p>
            <a:pPr algn="l">
              <a:lnSpc>
                <a:spcPts val="3265"/>
              </a:lnSpc>
              <a:spcBef>
                <a:spcPct val="0"/>
              </a:spcBef>
            </a:pPr>
            <a:r>
              <a:rPr lang="en-US" sz="2332">
                <a:solidFill>
                  <a:srgbClr val="000000"/>
                </a:solidFill>
                <a:latin typeface="Poppins"/>
                <a:ea typeface="Poppins"/>
                <a:cs typeface="Poppins"/>
                <a:sym typeface="Poppins"/>
              </a:rPr>
              <a:t>Excludes online payment gateways and inventory control.</a:t>
            </a:r>
          </a:p>
        </p:txBody>
      </p:sp>
      <p:sp>
        <p:nvSpPr>
          <p:cNvPr name="TextBox 10" id="10"/>
          <p:cNvSpPr txBox="true"/>
          <p:nvPr/>
        </p:nvSpPr>
        <p:spPr>
          <a:xfrm rot="0">
            <a:off x="7928052" y="6332568"/>
            <a:ext cx="8464839" cy="1226860"/>
          </a:xfrm>
          <a:prstGeom prst="rect">
            <a:avLst/>
          </a:prstGeom>
        </p:spPr>
        <p:txBody>
          <a:bodyPr anchor="t" rtlCol="false" tIns="0" lIns="0" bIns="0" rIns="0">
            <a:spAutoFit/>
          </a:bodyPr>
          <a:lstStyle/>
          <a:p>
            <a:pPr algn="l">
              <a:lnSpc>
                <a:spcPts val="3265"/>
              </a:lnSpc>
              <a:spcBef>
                <a:spcPct val="0"/>
              </a:spcBef>
            </a:pPr>
            <a:r>
              <a:rPr lang="en-US" sz="2332">
                <a:solidFill>
                  <a:srgbClr val="000000"/>
                </a:solidFill>
                <a:latin typeface="Poppins"/>
                <a:ea typeface="Poppins"/>
                <a:cs typeface="Poppins"/>
                <a:sym typeface="Poppins"/>
              </a:rPr>
              <a:t>No integration with large-scale veterinary management software or external databases beyond the testing environment. </a:t>
            </a:r>
          </a:p>
        </p:txBody>
      </p:sp>
      <p:sp>
        <p:nvSpPr>
          <p:cNvPr name="TextBox 11" id="11"/>
          <p:cNvSpPr txBox="true"/>
          <p:nvPr/>
        </p:nvSpPr>
        <p:spPr>
          <a:xfrm rot="0">
            <a:off x="7928052" y="3926893"/>
            <a:ext cx="8464839" cy="817210"/>
          </a:xfrm>
          <a:prstGeom prst="rect">
            <a:avLst/>
          </a:prstGeom>
        </p:spPr>
        <p:txBody>
          <a:bodyPr anchor="t" rtlCol="false" tIns="0" lIns="0" bIns="0" rIns="0">
            <a:spAutoFit/>
          </a:bodyPr>
          <a:lstStyle/>
          <a:p>
            <a:pPr algn="l">
              <a:lnSpc>
                <a:spcPts val="3265"/>
              </a:lnSpc>
              <a:spcBef>
                <a:spcPct val="0"/>
              </a:spcBef>
            </a:pPr>
            <a:r>
              <a:rPr lang="en-US" sz="2332">
                <a:solidFill>
                  <a:srgbClr val="000000"/>
                </a:solidFill>
                <a:latin typeface="Poppins"/>
                <a:ea typeface="Poppins"/>
                <a:cs typeface="Poppins"/>
                <a:sym typeface="Poppins"/>
              </a:rPr>
              <a:t>Web-based system requires internet connection and cannot function offline.</a:t>
            </a:r>
          </a:p>
        </p:txBody>
      </p:sp>
      <p:sp>
        <p:nvSpPr>
          <p:cNvPr name="TextBox 12" id="12"/>
          <p:cNvSpPr txBox="true"/>
          <p:nvPr/>
        </p:nvSpPr>
        <p:spPr>
          <a:xfrm rot="0">
            <a:off x="1321734" y="2585687"/>
            <a:ext cx="4243380" cy="919900"/>
          </a:xfrm>
          <a:prstGeom prst="rect">
            <a:avLst/>
          </a:prstGeom>
        </p:spPr>
        <p:txBody>
          <a:bodyPr anchor="t" rtlCol="false" tIns="0" lIns="0" bIns="0" rIns="0">
            <a:spAutoFit/>
          </a:bodyPr>
          <a:lstStyle/>
          <a:p>
            <a:pPr algn="l">
              <a:lnSpc>
                <a:spcPts val="7571"/>
              </a:lnSpc>
            </a:pPr>
            <a:r>
              <a:rPr lang="en-US" sz="5408">
                <a:solidFill>
                  <a:srgbClr val="F3F3F3"/>
                </a:solidFill>
                <a:latin typeface="League Spartan"/>
                <a:ea typeface="League Spartan"/>
                <a:cs typeface="League Spartan"/>
                <a:sym typeface="League Spartan"/>
              </a:rPr>
              <a:t>LIMITATION</a:t>
            </a:r>
          </a:p>
        </p:txBody>
      </p:sp>
      <p:sp>
        <p:nvSpPr>
          <p:cNvPr name="TextBox 13" id="13"/>
          <p:cNvSpPr txBox="true"/>
          <p:nvPr/>
        </p:nvSpPr>
        <p:spPr>
          <a:xfrm rot="0">
            <a:off x="1175030" y="3434321"/>
            <a:ext cx="5634574" cy="911860"/>
          </a:xfrm>
          <a:prstGeom prst="rect">
            <a:avLst/>
          </a:prstGeom>
        </p:spPr>
        <p:txBody>
          <a:bodyPr anchor="t" rtlCol="false" tIns="0" lIns="0" bIns="0" rIns="0">
            <a:spAutoFit/>
          </a:bodyPr>
          <a:lstStyle/>
          <a:p>
            <a:pPr algn="l">
              <a:lnSpc>
                <a:spcPts val="7492"/>
              </a:lnSpc>
            </a:pPr>
            <a:r>
              <a:rPr lang="en-US" sz="5351">
                <a:solidFill>
                  <a:srgbClr val="000000"/>
                </a:solidFill>
                <a:latin typeface="Roboto"/>
                <a:ea typeface="Roboto"/>
                <a:cs typeface="Roboto"/>
                <a:sym typeface="Roboto"/>
              </a:rPr>
              <a:t>OF THE STUDY</a:t>
            </a:r>
          </a:p>
        </p:txBody>
      </p:sp>
      <p:grpSp>
        <p:nvGrpSpPr>
          <p:cNvPr name="Group 14" id="14"/>
          <p:cNvGrpSpPr/>
          <p:nvPr/>
        </p:nvGrpSpPr>
        <p:grpSpPr>
          <a:xfrm rot="0">
            <a:off x="1175030" y="5111545"/>
            <a:ext cx="2514600" cy="260350"/>
            <a:chOff x="0" y="0"/>
            <a:chExt cx="662281" cy="68570"/>
          </a:xfrm>
        </p:grpSpPr>
        <p:sp>
          <p:nvSpPr>
            <p:cNvPr name="Freeform 15" id="15"/>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7DA5DE"/>
            </a:solidFill>
          </p:spPr>
        </p:sp>
        <p:sp>
          <p:nvSpPr>
            <p:cNvPr name="TextBox 16" id="16"/>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6723879" y="583537"/>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
        <p:nvSpPr>
          <p:cNvPr name="TextBox 18" id="18"/>
          <p:cNvSpPr txBox="true"/>
          <p:nvPr/>
        </p:nvSpPr>
        <p:spPr>
          <a:xfrm rot="0">
            <a:off x="6723879" y="2346021"/>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
        <p:nvSpPr>
          <p:cNvPr name="TextBox 19" id="19"/>
          <p:cNvSpPr txBox="true"/>
          <p:nvPr/>
        </p:nvSpPr>
        <p:spPr>
          <a:xfrm rot="0">
            <a:off x="6723879" y="3825517"/>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
        <p:nvSpPr>
          <p:cNvPr name="TextBox 20" id="20"/>
          <p:cNvSpPr txBox="true"/>
          <p:nvPr/>
        </p:nvSpPr>
        <p:spPr>
          <a:xfrm rot="0">
            <a:off x="6723879" y="5175045"/>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
        <p:nvSpPr>
          <p:cNvPr name="TextBox 21" id="21"/>
          <p:cNvSpPr txBox="true"/>
          <p:nvPr/>
        </p:nvSpPr>
        <p:spPr>
          <a:xfrm rot="0">
            <a:off x="6723879" y="6426436"/>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
        <p:nvSpPr>
          <p:cNvPr name="TextBox 22" id="22"/>
          <p:cNvSpPr txBox="true"/>
          <p:nvPr/>
        </p:nvSpPr>
        <p:spPr>
          <a:xfrm rot="0">
            <a:off x="6723879" y="8321747"/>
            <a:ext cx="1185123" cy="936553"/>
          </a:xfrm>
          <a:prstGeom prst="rect">
            <a:avLst/>
          </a:prstGeom>
        </p:spPr>
        <p:txBody>
          <a:bodyPr anchor="t" rtlCol="false" tIns="0" lIns="0" bIns="0" rIns="0">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1274655"/>
            <a:ext cx="5736659" cy="355327"/>
            <a:chOff x="0" y="0"/>
            <a:chExt cx="1510890" cy="93584"/>
          </a:xfrm>
        </p:grpSpPr>
        <p:sp>
          <p:nvSpPr>
            <p:cNvPr name="Freeform 4" id="4"/>
            <p:cNvSpPr/>
            <p:nvPr/>
          </p:nvSpPr>
          <p:spPr>
            <a:xfrm flipH="false" flipV="false" rot="0">
              <a:off x="0" y="0"/>
              <a:ext cx="1510890" cy="93584"/>
            </a:xfrm>
            <a:custGeom>
              <a:avLst/>
              <a:gdLst/>
              <a:ahLst/>
              <a:cxnLst/>
              <a:rect r="r" b="b" t="t" l="l"/>
              <a:pathLst>
                <a:path h="93584" w="1510890">
                  <a:moveTo>
                    <a:pt x="0" y="0"/>
                  </a:moveTo>
                  <a:lnTo>
                    <a:pt x="1510890" y="0"/>
                  </a:lnTo>
                  <a:lnTo>
                    <a:pt x="1510890" y="93584"/>
                  </a:lnTo>
                  <a:lnTo>
                    <a:pt x="0" y="93584"/>
                  </a:lnTo>
                  <a:close/>
                </a:path>
              </a:pathLst>
            </a:custGeom>
            <a:solidFill>
              <a:srgbClr val="004AAD"/>
            </a:solidFill>
          </p:spPr>
        </p:sp>
        <p:sp>
          <p:nvSpPr>
            <p:cNvPr name="TextBox 5" id="5"/>
            <p:cNvSpPr txBox="true"/>
            <p:nvPr/>
          </p:nvSpPr>
          <p:spPr>
            <a:xfrm>
              <a:off x="0" y="-47625"/>
              <a:ext cx="1510890" cy="141209"/>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855701" y="128662"/>
            <a:ext cx="8186384" cy="10158338"/>
          </a:xfrm>
          <a:custGeom>
            <a:avLst/>
            <a:gdLst/>
            <a:ahLst/>
            <a:cxnLst/>
            <a:rect r="r" b="b" t="t" l="l"/>
            <a:pathLst>
              <a:path h="10158338" w="8186384">
                <a:moveTo>
                  <a:pt x="0" y="0"/>
                </a:moveTo>
                <a:lnTo>
                  <a:pt x="8186384" y="0"/>
                </a:lnTo>
                <a:lnTo>
                  <a:pt x="8186384" y="10158338"/>
                </a:lnTo>
                <a:lnTo>
                  <a:pt x="0" y="10158338"/>
                </a:lnTo>
                <a:lnTo>
                  <a:pt x="0" y="0"/>
                </a:lnTo>
                <a:close/>
              </a:path>
            </a:pathLst>
          </a:custGeom>
          <a:blipFill>
            <a:blip r:embed="rId3"/>
            <a:stretch>
              <a:fillRect l="-641" t="0" r="-641" b="0"/>
            </a:stretch>
          </a:blipFill>
        </p:spPr>
      </p:sp>
      <p:sp>
        <p:nvSpPr>
          <p:cNvPr name="TextBox 7" id="7"/>
          <p:cNvSpPr txBox="true"/>
          <p:nvPr/>
        </p:nvSpPr>
        <p:spPr>
          <a:xfrm rot="0">
            <a:off x="0" y="238303"/>
            <a:ext cx="8115300" cy="879895"/>
          </a:xfrm>
          <a:prstGeom prst="rect">
            <a:avLst/>
          </a:prstGeom>
        </p:spPr>
        <p:txBody>
          <a:bodyPr anchor="t" rtlCol="false" tIns="0" lIns="0" bIns="0" rIns="0">
            <a:spAutoFit/>
          </a:bodyPr>
          <a:lstStyle/>
          <a:p>
            <a:pPr algn="l">
              <a:lnSpc>
                <a:spcPts val="7151"/>
              </a:lnSpc>
            </a:pPr>
            <a:r>
              <a:rPr lang="en-US" b="true" sz="5108">
                <a:solidFill>
                  <a:srgbClr val="004AAD"/>
                </a:solidFill>
                <a:latin typeface="League Spartan"/>
                <a:ea typeface="League Spartan"/>
                <a:cs typeface="League Spartan"/>
                <a:sym typeface="League Spartan"/>
              </a:rPr>
              <a:t>PROCEDURAL FLOW</a:t>
            </a:r>
          </a:p>
        </p:txBody>
      </p:sp>
      <p:sp>
        <p:nvSpPr>
          <p:cNvPr name="TextBox 8" id="8"/>
          <p:cNvSpPr txBox="true"/>
          <p:nvPr/>
        </p:nvSpPr>
        <p:spPr>
          <a:xfrm rot="0">
            <a:off x="-297976" y="1725233"/>
            <a:ext cx="8832376" cy="816884"/>
          </a:xfrm>
          <a:prstGeom prst="rect">
            <a:avLst/>
          </a:prstGeom>
        </p:spPr>
        <p:txBody>
          <a:bodyPr anchor="t" rtlCol="false" tIns="0" lIns="0" bIns="0" rIns="0">
            <a:spAutoFit/>
          </a:bodyPr>
          <a:lstStyle/>
          <a:p>
            <a:pPr algn="ctr">
              <a:lnSpc>
                <a:spcPts val="3274"/>
              </a:lnSpc>
            </a:pPr>
            <a:r>
              <a:rPr lang="en-US" sz="2339">
                <a:solidFill>
                  <a:srgbClr val="303642"/>
                </a:solidFill>
                <a:latin typeface="Roboto"/>
                <a:ea typeface="Roboto"/>
                <a:cs typeface="Roboto"/>
                <a:sym typeface="Roboto"/>
              </a:rPr>
              <a:t>OF SMS/EMAIL REMINDER WITH TIME-BASED TRIGGER FOR VETERINARY FOLLOW UP APPOINTMENTS</a:t>
            </a:r>
          </a:p>
        </p:txBody>
      </p:sp>
      <p:sp>
        <p:nvSpPr>
          <p:cNvPr name="TextBox 9" id="9"/>
          <p:cNvSpPr txBox="true"/>
          <p:nvPr/>
        </p:nvSpPr>
        <p:spPr>
          <a:xfrm rot="0">
            <a:off x="311624" y="2702771"/>
            <a:ext cx="7995282" cy="6863800"/>
          </a:xfrm>
          <a:prstGeom prst="rect">
            <a:avLst/>
          </a:prstGeom>
        </p:spPr>
        <p:txBody>
          <a:bodyPr anchor="t" rtlCol="false" tIns="0" lIns="0" bIns="0" rIns="0">
            <a:spAutoFit/>
          </a:bodyPr>
          <a:lstStyle/>
          <a:p>
            <a:pPr algn="just">
              <a:lnSpc>
                <a:spcPts val="2305"/>
              </a:lnSpc>
              <a:spcBef>
                <a:spcPct val="0"/>
              </a:spcBef>
            </a:pPr>
            <a:r>
              <a:rPr lang="en-US" sz="1646">
                <a:solidFill>
                  <a:srgbClr val="000000"/>
                </a:solidFill>
                <a:latin typeface="Archivo Black"/>
                <a:ea typeface="Archivo Black"/>
                <a:cs typeface="Archivo Black"/>
                <a:sym typeface="Archivo Black"/>
              </a:rPr>
              <a:t>The Smart SMS and Email Reminder System with Time-Based Trigger for Veterinary Patient Follow-Up Appointment begins with a landing page featuring clinic information and options to log in or sign up. New users register an account before accessing the login procedure, while existing users proceed directly to authentication.</a:t>
            </a:r>
          </a:p>
          <a:p>
            <a:pPr algn="just">
              <a:lnSpc>
                <a:spcPts val="2305"/>
              </a:lnSpc>
              <a:spcBef>
                <a:spcPct val="0"/>
              </a:spcBef>
            </a:pPr>
          </a:p>
          <a:p>
            <a:pPr algn="just">
              <a:lnSpc>
                <a:spcPts val="2305"/>
              </a:lnSpc>
              <a:spcBef>
                <a:spcPct val="0"/>
              </a:spcBef>
            </a:pPr>
            <a:r>
              <a:rPr lang="en-US" sz="1646">
                <a:solidFill>
                  <a:srgbClr val="000000"/>
                </a:solidFill>
                <a:latin typeface="Archivo Black"/>
                <a:ea typeface="Archivo Black"/>
                <a:cs typeface="Archivo Black"/>
                <a:sym typeface="Archivo Black"/>
              </a:rPr>
              <a:t>User Access Levels</a:t>
            </a:r>
          </a:p>
          <a:p>
            <a:pPr algn="just">
              <a:lnSpc>
                <a:spcPts val="2305"/>
              </a:lnSpc>
              <a:spcBef>
                <a:spcPct val="0"/>
              </a:spcBef>
            </a:pPr>
            <a:r>
              <a:rPr lang="en-US" sz="1646">
                <a:solidFill>
                  <a:srgbClr val="000000"/>
                </a:solidFill>
                <a:latin typeface="Archivo Black"/>
                <a:ea typeface="Archivo Black"/>
                <a:cs typeface="Archivo Black"/>
                <a:sym typeface="Archivo Black"/>
              </a:rPr>
              <a:t>Upon successful login, role-based interfaces unlock specific features.</a:t>
            </a:r>
          </a:p>
          <a:p>
            <a:pPr algn="just">
              <a:lnSpc>
                <a:spcPts val="2305"/>
              </a:lnSpc>
              <a:spcBef>
                <a:spcPct val="0"/>
              </a:spcBef>
            </a:pPr>
          </a:p>
          <a:p>
            <a:pPr algn="just">
              <a:lnSpc>
                <a:spcPts val="2305"/>
              </a:lnSpc>
              <a:spcBef>
                <a:spcPct val="0"/>
              </a:spcBef>
            </a:pPr>
            <a:r>
              <a:rPr lang="en-US" sz="1646">
                <a:solidFill>
                  <a:srgbClr val="000000"/>
                </a:solidFill>
                <a:latin typeface="Archivo Black"/>
                <a:ea typeface="Archivo Black"/>
                <a:cs typeface="Archivo Black"/>
                <a:sym typeface="Archivo Black"/>
              </a:rPr>
              <a:t>Administrator and Staff:</a:t>
            </a:r>
          </a:p>
          <a:p>
            <a:pPr algn="just">
              <a:lnSpc>
                <a:spcPts val="2305"/>
              </a:lnSpc>
              <a:spcBef>
                <a:spcPct val="0"/>
              </a:spcBef>
            </a:pPr>
            <a:r>
              <a:rPr lang="en-US" sz="1646">
                <a:solidFill>
                  <a:srgbClr val="000000"/>
                </a:solidFill>
                <a:latin typeface="Archivo Black"/>
                <a:ea typeface="Archivo Black"/>
                <a:cs typeface="Archivo Black"/>
                <a:sym typeface="Archivo Black"/>
              </a:rPr>
              <a:t>Review and manage appointment requests.</a:t>
            </a:r>
          </a:p>
          <a:p>
            <a:pPr algn="just">
              <a:lnSpc>
                <a:spcPts val="2305"/>
              </a:lnSpc>
              <a:spcBef>
                <a:spcPct val="0"/>
              </a:spcBef>
            </a:pPr>
            <a:r>
              <a:rPr lang="en-US" sz="1646">
                <a:solidFill>
                  <a:srgbClr val="000000"/>
                </a:solidFill>
                <a:latin typeface="Archivo Black"/>
                <a:ea typeface="Archivo Black"/>
                <a:cs typeface="Archivo Black"/>
                <a:sym typeface="Archivo Black"/>
              </a:rPr>
              <a:t>Handle patient records.</a:t>
            </a:r>
          </a:p>
          <a:p>
            <a:pPr algn="just">
              <a:lnSpc>
                <a:spcPts val="2305"/>
              </a:lnSpc>
              <a:spcBef>
                <a:spcPct val="0"/>
              </a:spcBef>
            </a:pPr>
            <a:r>
              <a:rPr lang="en-US" sz="1646">
                <a:solidFill>
                  <a:srgbClr val="000000"/>
                </a:solidFill>
                <a:latin typeface="Archivo Black"/>
                <a:ea typeface="Archivo Black"/>
                <a:cs typeface="Archivo Black"/>
                <a:sym typeface="Archivo Black"/>
              </a:rPr>
              <a:t>Create SMS/email reminder templates.</a:t>
            </a:r>
          </a:p>
          <a:p>
            <a:pPr algn="just">
              <a:lnSpc>
                <a:spcPts val="2305"/>
              </a:lnSpc>
              <a:spcBef>
                <a:spcPct val="0"/>
              </a:spcBef>
            </a:pPr>
            <a:r>
              <a:rPr lang="en-US" sz="1646">
                <a:solidFill>
                  <a:srgbClr val="000000"/>
                </a:solidFill>
                <a:latin typeface="Archivo Black"/>
                <a:ea typeface="Archivo Black"/>
                <a:cs typeface="Archivo Black"/>
                <a:sym typeface="Archivo Black"/>
              </a:rPr>
              <a:t>Configure automated notifications.</a:t>
            </a:r>
          </a:p>
          <a:p>
            <a:pPr algn="just">
              <a:lnSpc>
                <a:spcPts val="2305"/>
              </a:lnSpc>
              <a:spcBef>
                <a:spcPct val="0"/>
              </a:spcBef>
            </a:pPr>
            <a:r>
              <a:rPr lang="en-US" sz="1646">
                <a:solidFill>
                  <a:srgbClr val="000000"/>
                </a:solidFill>
                <a:latin typeface="Archivo Black"/>
                <a:ea typeface="Archivo Black"/>
                <a:cs typeface="Archivo Black"/>
                <a:sym typeface="Archivo Black"/>
              </a:rPr>
              <a:t>Manage user accounts.</a:t>
            </a:r>
          </a:p>
          <a:p>
            <a:pPr algn="just">
              <a:lnSpc>
                <a:spcPts val="2305"/>
              </a:lnSpc>
              <a:spcBef>
                <a:spcPct val="0"/>
              </a:spcBef>
            </a:pPr>
          </a:p>
          <a:p>
            <a:pPr algn="just">
              <a:lnSpc>
                <a:spcPts val="2305"/>
              </a:lnSpc>
              <a:spcBef>
                <a:spcPct val="0"/>
              </a:spcBef>
            </a:pPr>
            <a:r>
              <a:rPr lang="en-US" sz="1646">
                <a:solidFill>
                  <a:srgbClr val="000000"/>
                </a:solidFill>
                <a:latin typeface="Archivo Black"/>
                <a:ea typeface="Archivo Black"/>
                <a:cs typeface="Archivo Black"/>
                <a:sym typeface="Archivo Black"/>
              </a:rPr>
              <a:t>Veterinarian:</a:t>
            </a:r>
          </a:p>
          <a:p>
            <a:pPr algn="just">
              <a:lnSpc>
                <a:spcPts val="2305"/>
              </a:lnSpc>
              <a:spcBef>
                <a:spcPct val="0"/>
              </a:spcBef>
            </a:pPr>
            <a:r>
              <a:rPr lang="en-US" sz="1646">
                <a:solidFill>
                  <a:srgbClr val="000000"/>
                </a:solidFill>
                <a:latin typeface="Archivo Black"/>
                <a:ea typeface="Archivo Black"/>
                <a:cs typeface="Archivo Black"/>
                <a:sym typeface="Archivo Black"/>
              </a:rPr>
              <a:t>Access dashboard and appointment lists.</a:t>
            </a:r>
          </a:p>
          <a:p>
            <a:pPr algn="just">
              <a:lnSpc>
                <a:spcPts val="2305"/>
              </a:lnSpc>
              <a:spcBef>
                <a:spcPct val="0"/>
              </a:spcBef>
            </a:pPr>
            <a:r>
              <a:rPr lang="en-US" sz="1646">
                <a:solidFill>
                  <a:srgbClr val="000000"/>
                </a:solidFill>
                <a:latin typeface="Archivo Black"/>
                <a:ea typeface="Archivo Black"/>
                <a:cs typeface="Archivo Black"/>
                <a:sym typeface="Archivo Black"/>
              </a:rPr>
              <a:t>View patient records.</a:t>
            </a:r>
          </a:p>
          <a:p>
            <a:pPr algn="just">
              <a:lnSpc>
                <a:spcPts val="2305"/>
              </a:lnSpc>
              <a:spcBef>
                <a:spcPct val="0"/>
              </a:spcBef>
            </a:pPr>
            <a:r>
              <a:rPr lang="en-US" sz="1646">
                <a:solidFill>
                  <a:srgbClr val="000000"/>
                </a:solidFill>
                <a:latin typeface="Archivo Black"/>
                <a:ea typeface="Archivo Black"/>
                <a:cs typeface="Archivo Black"/>
                <a:sym typeface="Archivo Black"/>
              </a:rPr>
              <a:t>Select and claim appointments for procedures.</a:t>
            </a:r>
          </a:p>
          <a:p>
            <a:pPr algn="just">
              <a:lnSpc>
                <a:spcPts val="2305"/>
              </a:lnSpc>
              <a:spcBef>
                <a:spcPct val="0"/>
              </a:spcBef>
            </a:pPr>
          </a:p>
          <a:p>
            <a:pPr algn="just">
              <a:lnSpc>
                <a:spcPts val="2305"/>
              </a:lnSpc>
              <a:spcBef>
                <a:spcPct val="0"/>
              </a:spcBef>
            </a:pPr>
            <a:r>
              <a:rPr lang="en-US" sz="1646">
                <a:solidFill>
                  <a:srgbClr val="000000"/>
                </a:solidFill>
                <a:latin typeface="Archivo Black"/>
                <a:ea typeface="Archivo Black"/>
                <a:cs typeface="Archivo Black"/>
                <a:sym typeface="Archivo Black"/>
              </a:rPr>
              <a:t>Client:</a:t>
            </a:r>
          </a:p>
          <a:p>
            <a:pPr algn="just">
              <a:lnSpc>
                <a:spcPts val="2305"/>
              </a:lnSpc>
              <a:spcBef>
                <a:spcPct val="0"/>
              </a:spcBef>
            </a:pPr>
            <a:r>
              <a:rPr lang="en-US" sz="1646">
                <a:solidFill>
                  <a:srgbClr val="000000"/>
                </a:solidFill>
                <a:latin typeface="Archivo Black"/>
                <a:ea typeface="Archivo Black"/>
                <a:cs typeface="Archivo Black"/>
                <a:sym typeface="Archivo Black"/>
              </a:rPr>
              <a:t>Submit appointment requests.</a:t>
            </a:r>
          </a:p>
          <a:p>
            <a:pPr algn="just">
              <a:lnSpc>
                <a:spcPts val="2305"/>
              </a:lnSpc>
              <a:spcBef>
                <a:spcPct val="0"/>
              </a:spcBef>
            </a:pPr>
            <a:r>
              <a:rPr lang="en-US" sz="1646">
                <a:solidFill>
                  <a:srgbClr val="000000"/>
                </a:solidFill>
                <a:latin typeface="Archivo Black"/>
                <a:ea typeface="Archivo Black"/>
                <a:cs typeface="Archivo Black"/>
                <a:sym typeface="Archivo Black"/>
              </a:rPr>
              <a:t>View and download pet health reports.</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7265796" y="0"/>
            <a:ext cx="11022204" cy="10145169"/>
          </a:xfrm>
          <a:custGeom>
            <a:avLst/>
            <a:gdLst/>
            <a:ahLst/>
            <a:cxnLst/>
            <a:rect r="r" b="b" t="t" l="l"/>
            <a:pathLst>
              <a:path h="10145169" w="11022204">
                <a:moveTo>
                  <a:pt x="0" y="0"/>
                </a:moveTo>
                <a:lnTo>
                  <a:pt x="11022204" y="0"/>
                </a:lnTo>
                <a:lnTo>
                  <a:pt x="11022204" y="10145169"/>
                </a:lnTo>
                <a:lnTo>
                  <a:pt x="0" y="10145169"/>
                </a:lnTo>
                <a:lnTo>
                  <a:pt x="0" y="0"/>
                </a:lnTo>
                <a:close/>
              </a:path>
            </a:pathLst>
          </a:custGeom>
          <a:blipFill>
            <a:blip r:embed="rId3"/>
            <a:stretch>
              <a:fillRect l="0" t="0" r="0" b="0"/>
            </a:stretch>
          </a:blipFill>
        </p:spPr>
      </p:sp>
      <p:sp>
        <p:nvSpPr>
          <p:cNvPr name="TextBox 4" id="4"/>
          <p:cNvSpPr txBox="true"/>
          <p:nvPr/>
        </p:nvSpPr>
        <p:spPr>
          <a:xfrm rot="0">
            <a:off x="805612" y="369901"/>
            <a:ext cx="5795827" cy="1500250"/>
          </a:xfrm>
          <a:prstGeom prst="rect">
            <a:avLst/>
          </a:prstGeom>
        </p:spPr>
        <p:txBody>
          <a:bodyPr anchor="t" rtlCol="false" tIns="0" lIns="0" bIns="0" rIns="0">
            <a:spAutoFit/>
          </a:bodyPr>
          <a:lstStyle/>
          <a:p>
            <a:pPr algn="ctr">
              <a:lnSpc>
                <a:spcPts val="6034"/>
              </a:lnSpc>
            </a:pPr>
            <a:r>
              <a:rPr lang="en-US" b="true" sz="4310">
                <a:solidFill>
                  <a:srgbClr val="004AAD"/>
                </a:solidFill>
                <a:latin typeface="League Spartan"/>
                <a:ea typeface="League Spartan"/>
                <a:cs typeface="League Spartan"/>
                <a:sym typeface="League Spartan"/>
              </a:rPr>
              <a:t>CONTEXT DIAGRAM ( LEVEL 0)</a:t>
            </a:r>
          </a:p>
        </p:txBody>
      </p:sp>
      <p:sp>
        <p:nvSpPr>
          <p:cNvPr name="TextBox 5" id="5"/>
          <p:cNvSpPr txBox="true"/>
          <p:nvPr/>
        </p:nvSpPr>
        <p:spPr>
          <a:xfrm rot="0">
            <a:off x="1146820" y="2104620"/>
            <a:ext cx="5113410" cy="844189"/>
          </a:xfrm>
          <a:prstGeom prst="rect">
            <a:avLst/>
          </a:prstGeom>
        </p:spPr>
        <p:txBody>
          <a:bodyPr anchor="t" rtlCol="false" tIns="0" lIns="0" bIns="0" rIns="0">
            <a:spAutoFit/>
          </a:bodyPr>
          <a:lstStyle/>
          <a:p>
            <a:pPr algn="ctr">
              <a:lnSpc>
                <a:spcPts val="2294"/>
              </a:lnSpc>
            </a:pPr>
            <a:r>
              <a:rPr lang="en-US" sz="1639">
                <a:solidFill>
                  <a:srgbClr val="303642"/>
                </a:solidFill>
                <a:latin typeface="Roboto"/>
                <a:ea typeface="Roboto"/>
                <a:cs typeface="Roboto"/>
                <a:sym typeface="Roboto"/>
              </a:rPr>
              <a:t>OF SMS/EMAIL REMINDER WITH TIME-BASED TRIGGER FOR VETERINARY FOLLOW UP APPOINTMENTS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890182" y="789579"/>
            <a:ext cx="10127037" cy="47625"/>
            <a:chOff x="0" y="0"/>
            <a:chExt cx="2667203" cy="12543"/>
          </a:xfrm>
        </p:grpSpPr>
        <p:sp>
          <p:nvSpPr>
            <p:cNvPr name="Freeform 4" id="4"/>
            <p:cNvSpPr/>
            <p:nvPr/>
          </p:nvSpPr>
          <p:spPr>
            <a:xfrm flipH="false" flipV="false" rot="0">
              <a:off x="0" y="0"/>
              <a:ext cx="2667203" cy="12543"/>
            </a:xfrm>
            <a:custGeom>
              <a:avLst/>
              <a:gdLst/>
              <a:ahLst/>
              <a:cxnLst/>
              <a:rect r="r" b="b" t="t" l="l"/>
              <a:pathLst>
                <a:path h="12543" w="2667203">
                  <a:moveTo>
                    <a:pt x="0" y="0"/>
                  </a:moveTo>
                  <a:lnTo>
                    <a:pt x="2667203" y="0"/>
                  </a:lnTo>
                  <a:lnTo>
                    <a:pt x="2667203" y="12543"/>
                  </a:lnTo>
                  <a:lnTo>
                    <a:pt x="0" y="12543"/>
                  </a:lnTo>
                  <a:close/>
                </a:path>
              </a:pathLst>
            </a:custGeom>
            <a:solidFill>
              <a:srgbClr val="004AAD"/>
            </a:solidFill>
          </p:spPr>
        </p:sp>
        <p:sp>
          <p:nvSpPr>
            <p:cNvPr name="TextBox 5" id="5"/>
            <p:cNvSpPr txBox="true"/>
            <p:nvPr/>
          </p:nvSpPr>
          <p:spPr>
            <a:xfrm>
              <a:off x="0" y="-47625"/>
              <a:ext cx="2667203" cy="6016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451669" y="1507989"/>
            <a:ext cx="15384661" cy="8779011"/>
          </a:xfrm>
          <a:custGeom>
            <a:avLst/>
            <a:gdLst/>
            <a:ahLst/>
            <a:cxnLst/>
            <a:rect r="r" b="b" t="t" l="l"/>
            <a:pathLst>
              <a:path h="8779011" w="15384661">
                <a:moveTo>
                  <a:pt x="0" y="0"/>
                </a:moveTo>
                <a:lnTo>
                  <a:pt x="15384662" y="0"/>
                </a:lnTo>
                <a:lnTo>
                  <a:pt x="15384662" y="8779011"/>
                </a:lnTo>
                <a:lnTo>
                  <a:pt x="0" y="8779011"/>
                </a:lnTo>
                <a:lnTo>
                  <a:pt x="0" y="0"/>
                </a:lnTo>
                <a:close/>
              </a:path>
            </a:pathLst>
          </a:custGeom>
          <a:blipFill>
            <a:blip r:embed="rId3"/>
            <a:stretch>
              <a:fillRect l="0" t="0" r="0" b="0"/>
            </a:stretch>
          </a:blipFill>
        </p:spPr>
      </p:sp>
      <p:sp>
        <p:nvSpPr>
          <p:cNvPr name="TextBox 7" id="7"/>
          <p:cNvSpPr txBox="true"/>
          <p:nvPr/>
        </p:nvSpPr>
        <p:spPr>
          <a:xfrm rot="0">
            <a:off x="4307715" y="206106"/>
            <a:ext cx="10507635" cy="1998726"/>
          </a:xfrm>
          <a:prstGeom prst="rect">
            <a:avLst/>
          </a:prstGeom>
        </p:spPr>
        <p:txBody>
          <a:bodyPr anchor="t" rtlCol="false" tIns="0" lIns="0" bIns="0" rIns="0">
            <a:spAutoFit/>
          </a:bodyPr>
          <a:lstStyle/>
          <a:p>
            <a:pPr algn="l">
              <a:lnSpc>
                <a:spcPts val="5334"/>
              </a:lnSpc>
            </a:pPr>
            <a:r>
              <a:rPr lang="en-US" sz="3810" b="true">
                <a:solidFill>
                  <a:srgbClr val="004AAD"/>
                </a:solidFill>
                <a:latin typeface="League Spartan"/>
                <a:ea typeface="League Spartan"/>
                <a:cs typeface="League Spartan"/>
                <a:sym typeface="League Spartan"/>
              </a:rPr>
              <a:t>ADMIN USER DATA FLOW DIAGRAM (LEVEL 1)</a:t>
            </a:r>
          </a:p>
          <a:p>
            <a:pPr algn="l">
              <a:lnSpc>
                <a:spcPts val="5334"/>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21874" y="1362506"/>
            <a:ext cx="8985240" cy="153540"/>
            <a:chOff x="0" y="0"/>
            <a:chExt cx="2366483" cy="40438"/>
          </a:xfrm>
        </p:grpSpPr>
        <p:sp>
          <p:nvSpPr>
            <p:cNvPr name="Freeform 4" id="4"/>
            <p:cNvSpPr/>
            <p:nvPr/>
          </p:nvSpPr>
          <p:spPr>
            <a:xfrm flipH="false" flipV="false" rot="0">
              <a:off x="0" y="0"/>
              <a:ext cx="2366483" cy="40438"/>
            </a:xfrm>
            <a:custGeom>
              <a:avLst/>
              <a:gdLst/>
              <a:ahLst/>
              <a:cxnLst/>
              <a:rect r="r" b="b" t="t" l="l"/>
              <a:pathLst>
                <a:path h="40438" w="2366483">
                  <a:moveTo>
                    <a:pt x="0" y="0"/>
                  </a:moveTo>
                  <a:lnTo>
                    <a:pt x="2366483" y="0"/>
                  </a:lnTo>
                  <a:lnTo>
                    <a:pt x="2366483" y="40438"/>
                  </a:lnTo>
                  <a:lnTo>
                    <a:pt x="0" y="40438"/>
                  </a:lnTo>
                  <a:close/>
                </a:path>
              </a:pathLst>
            </a:custGeom>
            <a:solidFill>
              <a:srgbClr val="004AAD"/>
            </a:solidFill>
          </p:spPr>
        </p:sp>
        <p:sp>
          <p:nvSpPr>
            <p:cNvPr name="TextBox 5" id="5"/>
            <p:cNvSpPr txBox="true"/>
            <p:nvPr/>
          </p:nvSpPr>
          <p:spPr>
            <a:xfrm>
              <a:off x="0" y="-38100"/>
              <a:ext cx="2366483" cy="78538"/>
            </a:xfrm>
            <a:prstGeom prst="rect">
              <a:avLst/>
            </a:prstGeom>
          </p:spPr>
          <p:txBody>
            <a:bodyPr anchor="ctr" rtlCol="false" tIns="50800" lIns="50800" bIns="50800" rIns="50800"/>
            <a:lstStyle/>
            <a:p>
              <a:pPr algn="ctr">
                <a:lnSpc>
                  <a:spcPts val="1820"/>
                </a:lnSpc>
              </a:pPr>
            </a:p>
          </p:txBody>
        </p:sp>
      </p:grpSp>
      <p:sp>
        <p:nvSpPr>
          <p:cNvPr name="Freeform 6" id="6"/>
          <p:cNvSpPr/>
          <p:nvPr/>
        </p:nvSpPr>
        <p:spPr>
          <a:xfrm flipH="false" flipV="false" rot="0">
            <a:off x="1690048" y="1668918"/>
            <a:ext cx="15817227" cy="8435855"/>
          </a:xfrm>
          <a:custGeom>
            <a:avLst/>
            <a:gdLst/>
            <a:ahLst/>
            <a:cxnLst/>
            <a:rect r="r" b="b" t="t" l="l"/>
            <a:pathLst>
              <a:path h="8435855" w="15817227">
                <a:moveTo>
                  <a:pt x="0" y="0"/>
                </a:moveTo>
                <a:lnTo>
                  <a:pt x="15817227" y="0"/>
                </a:lnTo>
                <a:lnTo>
                  <a:pt x="15817227" y="8435855"/>
                </a:lnTo>
                <a:lnTo>
                  <a:pt x="0" y="8435855"/>
                </a:lnTo>
                <a:lnTo>
                  <a:pt x="0" y="0"/>
                </a:lnTo>
                <a:close/>
              </a:path>
            </a:pathLst>
          </a:custGeom>
          <a:blipFill>
            <a:blip r:embed="rId3"/>
            <a:stretch>
              <a:fillRect l="0" t="0" r="0" b="0"/>
            </a:stretch>
          </a:blipFill>
        </p:spPr>
      </p:sp>
      <p:sp>
        <p:nvSpPr>
          <p:cNvPr name="TextBox 7" id="7"/>
          <p:cNvSpPr txBox="true"/>
          <p:nvPr/>
        </p:nvSpPr>
        <p:spPr>
          <a:xfrm rot="0">
            <a:off x="321874" y="182296"/>
            <a:ext cx="10072665" cy="1180211"/>
          </a:xfrm>
          <a:prstGeom prst="rect">
            <a:avLst/>
          </a:prstGeom>
        </p:spPr>
        <p:txBody>
          <a:bodyPr anchor="t" rtlCol="false" tIns="0" lIns="0" bIns="0" rIns="0">
            <a:spAutoFit/>
          </a:bodyPr>
          <a:lstStyle/>
          <a:p>
            <a:pPr algn="l">
              <a:lnSpc>
                <a:spcPts val="4774"/>
              </a:lnSpc>
            </a:pPr>
            <a:r>
              <a:rPr lang="en-US" b="true" sz="3410">
                <a:solidFill>
                  <a:srgbClr val="004AAD"/>
                </a:solidFill>
                <a:latin typeface="League Spartan"/>
                <a:ea typeface="League Spartan"/>
                <a:cs typeface="League Spartan"/>
                <a:sym typeface="League Spartan"/>
              </a:rPr>
              <a:t>VETERINARY STAFF USER DATA FLOW DIAGRAM ( LEVEL 1)</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51986" t="-51986" r="-51986" b="-51986"/>
            </a:stretch>
          </a:blipFill>
        </p:spPr>
      </p:sp>
      <p:grpSp>
        <p:nvGrpSpPr>
          <p:cNvPr name="Group 3" id="3"/>
          <p:cNvGrpSpPr/>
          <p:nvPr/>
        </p:nvGrpSpPr>
        <p:grpSpPr>
          <a:xfrm rot="0">
            <a:off x="619264" y="5539303"/>
            <a:ext cx="4836971" cy="278343"/>
            <a:chOff x="0" y="0"/>
            <a:chExt cx="1273935" cy="73308"/>
          </a:xfrm>
        </p:grpSpPr>
        <p:sp>
          <p:nvSpPr>
            <p:cNvPr name="Freeform 4" id="4"/>
            <p:cNvSpPr/>
            <p:nvPr/>
          </p:nvSpPr>
          <p:spPr>
            <a:xfrm flipH="false" flipV="false" rot="0">
              <a:off x="0" y="0"/>
              <a:ext cx="1273935" cy="73308"/>
            </a:xfrm>
            <a:custGeom>
              <a:avLst/>
              <a:gdLst/>
              <a:ahLst/>
              <a:cxnLst/>
              <a:rect r="r" b="b" t="t" l="l"/>
              <a:pathLst>
                <a:path h="73308" w="1273935">
                  <a:moveTo>
                    <a:pt x="0" y="0"/>
                  </a:moveTo>
                  <a:lnTo>
                    <a:pt x="1273935" y="0"/>
                  </a:lnTo>
                  <a:lnTo>
                    <a:pt x="1273935" y="73308"/>
                  </a:lnTo>
                  <a:lnTo>
                    <a:pt x="0" y="73308"/>
                  </a:lnTo>
                  <a:close/>
                </a:path>
              </a:pathLst>
            </a:custGeom>
            <a:solidFill>
              <a:srgbClr val="004AAD"/>
            </a:solidFill>
          </p:spPr>
        </p:sp>
        <p:sp>
          <p:nvSpPr>
            <p:cNvPr name="TextBox 5" id="5"/>
            <p:cNvSpPr txBox="true"/>
            <p:nvPr/>
          </p:nvSpPr>
          <p:spPr>
            <a:xfrm>
              <a:off x="0" y="-38100"/>
              <a:ext cx="1273935" cy="111408"/>
            </a:xfrm>
            <a:prstGeom prst="rect">
              <a:avLst/>
            </a:prstGeom>
          </p:spPr>
          <p:txBody>
            <a:bodyPr anchor="ctr" rtlCol="false" tIns="50800" lIns="50800" bIns="50800" rIns="50800"/>
            <a:lstStyle/>
            <a:p>
              <a:pPr algn="ctr">
                <a:lnSpc>
                  <a:spcPts val="1820"/>
                </a:lnSpc>
              </a:pPr>
            </a:p>
          </p:txBody>
        </p:sp>
      </p:grpSp>
      <p:sp>
        <p:nvSpPr>
          <p:cNvPr name="Freeform 6" id="6"/>
          <p:cNvSpPr/>
          <p:nvPr/>
        </p:nvSpPr>
        <p:spPr>
          <a:xfrm flipH="false" flipV="false" rot="0">
            <a:off x="6697293" y="234573"/>
            <a:ext cx="10763720" cy="9817854"/>
          </a:xfrm>
          <a:custGeom>
            <a:avLst/>
            <a:gdLst/>
            <a:ahLst/>
            <a:cxnLst/>
            <a:rect r="r" b="b" t="t" l="l"/>
            <a:pathLst>
              <a:path h="9817854" w="10763720">
                <a:moveTo>
                  <a:pt x="0" y="0"/>
                </a:moveTo>
                <a:lnTo>
                  <a:pt x="10763721" y="0"/>
                </a:lnTo>
                <a:lnTo>
                  <a:pt x="10763721" y="9817854"/>
                </a:lnTo>
                <a:lnTo>
                  <a:pt x="0" y="9817854"/>
                </a:lnTo>
                <a:lnTo>
                  <a:pt x="0" y="0"/>
                </a:lnTo>
                <a:close/>
              </a:path>
            </a:pathLst>
          </a:custGeom>
          <a:blipFill>
            <a:blip r:embed="rId3"/>
            <a:stretch>
              <a:fillRect l="0" t="0" r="0" b="0"/>
            </a:stretch>
          </a:blipFill>
        </p:spPr>
      </p:sp>
      <p:sp>
        <p:nvSpPr>
          <p:cNvPr name="TextBox 7" id="7"/>
          <p:cNvSpPr txBox="true"/>
          <p:nvPr/>
        </p:nvSpPr>
        <p:spPr>
          <a:xfrm rot="0">
            <a:off x="791439" y="2908269"/>
            <a:ext cx="4492620" cy="1780286"/>
          </a:xfrm>
          <a:prstGeom prst="rect">
            <a:avLst/>
          </a:prstGeom>
        </p:spPr>
        <p:txBody>
          <a:bodyPr anchor="t" rtlCol="false" tIns="0" lIns="0" bIns="0" rIns="0">
            <a:spAutoFit/>
          </a:bodyPr>
          <a:lstStyle/>
          <a:p>
            <a:pPr algn="l">
              <a:lnSpc>
                <a:spcPts val="4774"/>
              </a:lnSpc>
            </a:pPr>
            <a:r>
              <a:rPr lang="en-US" b="true" sz="3410">
                <a:solidFill>
                  <a:srgbClr val="004AAD"/>
                </a:solidFill>
                <a:latin typeface="League Spartan"/>
                <a:ea typeface="League Spartan"/>
                <a:cs typeface="League Spartan"/>
                <a:sym typeface="League Spartan"/>
              </a:rPr>
              <a:t>VETERINARIAN USER DATA FLOW DIAGRAM ( LEVEL 1)</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1493264"/>
            <a:ext cx="5084184" cy="618393"/>
            <a:chOff x="0" y="0"/>
            <a:chExt cx="1339044" cy="162869"/>
          </a:xfrm>
        </p:grpSpPr>
        <p:sp>
          <p:nvSpPr>
            <p:cNvPr name="Freeform 4" id="4"/>
            <p:cNvSpPr/>
            <p:nvPr/>
          </p:nvSpPr>
          <p:spPr>
            <a:xfrm flipH="false" flipV="false" rot="0">
              <a:off x="0" y="0"/>
              <a:ext cx="1339044" cy="162869"/>
            </a:xfrm>
            <a:custGeom>
              <a:avLst/>
              <a:gdLst/>
              <a:ahLst/>
              <a:cxnLst/>
              <a:rect r="r" b="b" t="t" l="l"/>
              <a:pathLst>
                <a:path h="162869" w="1339044">
                  <a:moveTo>
                    <a:pt x="0" y="0"/>
                  </a:moveTo>
                  <a:lnTo>
                    <a:pt x="1339044" y="0"/>
                  </a:lnTo>
                  <a:lnTo>
                    <a:pt x="1339044" y="162869"/>
                  </a:lnTo>
                  <a:lnTo>
                    <a:pt x="0" y="162869"/>
                  </a:lnTo>
                  <a:close/>
                </a:path>
              </a:pathLst>
            </a:custGeom>
            <a:solidFill>
              <a:srgbClr val="004AAD"/>
            </a:solidFill>
          </p:spPr>
        </p:sp>
        <p:sp>
          <p:nvSpPr>
            <p:cNvPr name="TextBox 5" id="5"/>
            <p:cNvSpPr txBox="true"/>
            <p:nvPr/>
          </p:nvSpPr>
          <p:spPr>
            <a:xfrm>
              <a:off x="0" y="-47625"/>
              <a:ext cx="1339044" cy="210494"/>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412637" y="723769"/>
            <a:ext cx="12590461" cy="9316941"/>
          </a:xfrm>
          <a:custGeom>
            <a:avLst/>
            <a:gdLst/>
            <a:ahLst/>
            <a:cxnLst/>
            <a:rect r="r" b="b" t="t" l="l"/>
            <a:pathLst>
              <a:path h="9316941" w="12590461">
                <a:moveTo>
                  <a:pt x="0" y="0"/>
                </a:moveTo>
                <a:lnTo>
                  <a:pt x="12590462" y="0"/>
                </a:lnTo>
                <a:lnTo>
                  <a:pt x="12590462" y="9316941"/>
                </a:lnTo>
                <a:lnTo>
                  <a:pt x="0" y="9316941"/>
                </a:lnTo>
                <a:lnTo>
                  <a:pt x="0" y="0"/>
                </a:lnTo>
                <a:close/>
              </a:path>
            </a:pathLst>
          </a:custGeom>
          <a:blipFill>
            <a:blip r:embed="rId3"/>
            <a:stretch>
              <a:fillRect l="0" t="0" r="0" b="0"/>
            </a:stretch>
          </a:blipFill>
        </p:spPr>
      </p:sp>
      <p:sp>
        <p:nvSpPr>
          <p:cNvPr name="TextBox 7" id="7"/>
          <p:cNvSpPr txBox="true"/>
          <p:nvPr/>
        </p:nvSpPr>
        <p:spPr>
          <a:xfrm rot="0">
            <a:off x="277004" y="118087"/>
            <a:ext cx="6049192" cy="1144689"/>
          </a:xfrm>
          <a:prstGeom prst="rect">
            <a:avLst/>
          </a:prstGeom>
        </p:spPr>
        <p:txBody>
          <a:bodyPr anchor="t" rtlCol="false" tIns="0" lIns="0" bIns="0" rIns="0">
            <a:spAutoFit/>
          </a:bodyPr>
          <a:lstStyle/>
          <a:p>
            <a:pPr algn="l">
              <a:lnSpc>
                <a:spcPts val="4631"/>
              </a:lnSpc>
            </a:pPr>
            <a:r>
              <a:rPr lang="en-US" b="true" sz="3308">
                <a:solidFill>
                  <a:srgbClr val="004AAD"/>
                </a:solidFill>
                <a:latin typeface="League Spartan"/>
                <a:ea typeface="League Spartan"/>
                <a:cs typeface="League Spartan"/>
                <a:sym typeface="League Spartan"/>
              </a:rPr>
              <a:t>CLIENT USER DATA FLOW DIAGRAM ( LEVEL 1)</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1948562" y="4315383"/>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111795" y="4315383"/>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659297" y="2715622"/>
            <a:ext cx="15198007" cy="4172514"/>
          </a:xfrm>
          <a:prstGeom prst="rect">
            <a:avLst/>
          </a:prstGeom>
        </p:spPr>
        <p:txBody>
          <a:bodyPr anchor="t" rtlCol="false" tIns="0" lIns="0" bIns="0" rIns="0">
            <a:spAutoFit/>
          </a:bodyPr>
          <a:lstStyle/>
          <a:p>
            <a:pPr algn="ctr">
              <a:lnSpc>
                <a:spcPts val="16768"/>
              </a:lnSpc>
            </a:pPr>
            <a:r>
              <a:rPr lang="en-US" sz="11977">
                <a:solidFill>
                  <a:srgbClr val="004AAD"/>
                </a:solidFill>
                <a:latin typeface="League Spartan"/>
                <a:ea typeface="League Spartan"/>
                <a:cs typeface="League Spartan"/>
                <a:sym typeface="League Spartan"/>
              </a:rPr>
              <a:t>THANK YOU</a:t>
            </a:r>
          </a:p>
          <a:p>
            <a:pPr algn="ctr">
              <a:lnSpc>
                <a:spcPts val="16768"/>
              </a:lnSpc>
            </a:pPr>
            <a:r>
              <a:rPr lang="en-US" sz="11977">
                <a:solidFill>
                  <a:srgbClr val="004AAD"/>
                </a:solidFill>
                <a:latin typeface="League Spartan"/>
                <a:ea typeface="League Spartan"/>
                <a:cs typeface="League Spartan"/>
                <a:sym typeface="League Spartan"/>
              </a:rPr>
              <a:t>FOR LISTENING</a:t>
            </a:r>
          </a:p>
        </p:txBody>
      </p:sp>
      <p:sp>
        <p:nvSpPr>
          <p:cNvPr name="Freeform 10" id="10"/>
          <p:cNvSpPr/>
          <p:nvPr/>
        </p:nvSpPr>
        <p:spPr>
          <a:xfrm flipH="false" flipV="false" rot="0">
            <a:off x="5947554" y="339006"/>
            <a:ext cx="1053017" cy="1053017"/>
          </a:xfrm>
          <a:custGeom>
            <a:avLst/>
            <a:gdLst/>
            <a:ahLst/>
            <a:cxnLst/>
            <a:rect r="r" b="b" t="t" l="l"/>
            <a:pathLst>
              <a:path h="1053017" w="1053017">
                <a:moveTo>
                  <a:pt x="0" y="0"/>
                </a:moveTo>
                <a:lnTo>
                  <a:pt x="1053017" y="0"/>
                </a:lnTo>
                <a:lnTo>
                  <a:pt x="1053017" y="1053017"/>
                </a:lnTo>
                <a:lnTo>
                  <a:pt x="0" y="1053017"/>
                </a:lnTo>
                <a:lnTo>
                  <a:pt x="0" y="0"/>
                </a:lnTo>
                <a:close/>
              </a:path>
            </a:pathLst>
          </a:custGeom>
          <a:blipFill>
            <a:blip r:embed="rId3"/>
            <a:stretch>
              <a:fillRect l="0" t="0" r="0" b="0"/>
            </a:stretch>
          </a:blipFill>
        </p:spPr>
      </p:sp>
      <p:sp>
        <p:nvSpPr>
          <p:cNvPr name="Freeform 11" id="11"/>
          <p:cNvSpPr/>
          <p:nvPr/>
        </p:nvSpPr>
        <p:spPr>
          <a:xfrm flipH="false" flipV="false" rot="0">
            <a:off x="5947554" y="1493171"/>
            <a:ext cx="1117676" cy="1117676"/>
          </a:xfrm>
          <a:custGeom>
            <a:avLst/>
            <a:gdLst/>
            <a:ahLst/>
            <a:cxnLst/>
            <a:rect r="r" b="b" t="t" l="l"/>
            <a:pathLst>
              <a:path h="1117676" w="1117676">
                <a:moveTo>
                  <a:pt x="0" y="0"/>
                </a:moveTo>
                <a:lnTo>
                  <a:pt x="1117676" y="0"/>
                </a:lnTo>
                <a:lnTo>
                  <a:pt x="1117676" y="1117676"/>
                </a:lnTo>
                <a:lnTo>
                  <a:pt x="0" y="1117676"/>
                </a:lnTo>
                <a:lnTo>
                  <a:pt x="0" y="0"/>
                </a:lnTo>
                <a:close/>
              </a:path>
            </a:pathLst>
          </a:custGeom>
          <a:blipFill>
            <a:blip r:embed="rId4"/>
            <a:stretch>
              <a:fillRect l="0" t="0" r="0" b="0"/>
            </a:stretch>
          </a:blipFill>
        </p:spPr>
      </p:sp>
      <p:sp>
        <p:nvSpPr>
          <p:cNvPr name="TextBox 12" id="12"/>
          <p:cNvSpPr txBox="true"/>
          <p:nvPr/>
        </p:nvSpPr>
        <p:spPr>
          <a:xfrm rot="0">
            <a:off x="7185084" y="715010"/>
            <a:ext cx="3745409" cy="31369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League Spartan"/>
                <a:ea typeface="League Spartan"/>
                <a:cs typeface="League Spartan"/>
                <a:sym typeface="League Spartan"/>
              </a:rPr>
              <a:t>AISAT COLLEGE DASMARINAS</a:t>
            </a:r>
          </a:p>
        </p:txBody>
      </p:sp>
      <p:sp>
        <p:nvSpPr>
          <p:cNvPr name="TextBox 13" id="13"/>
          <p:cNvSpPr txBox="true"/>
          <p:nvPr/>
        </p:nvSpPr>
        <p:spPr>
          <a:xfrm rot="0">
            <a:off x="7185084" y="1719269"/>
            <a:ext cx="6525220" cy="3327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Archivo Black"/>
                <a:ea typeface="Archivo Black"/>
                <a:cs typeface="Archivo Black"/>
                <a:sym typeface="Archivo Black"/>
              </a:rPr>
              <a:t>BACHELOR OF SCIENCE IN COMPUTER SCIENCE </a:t>
            </a:r>
          </a:p>
        </p:txBody>
      </p:sp>
      <p:sp>
        <p:nvSpPr>
          <p:cNvPr name="TextBox 14" id="14"/>
          <p:cNvSpPr txBox="true"/>
          <p:nvPr/>
        </p:nvSpPr>
        <p:spPr>
          <a:xfrm rot="0">
            <a:off x="3089860" y="7168075"/>
            <a:ext cx="12108281" cy="2090225"/>
          </a:xfrm>
          <a:prstGeom prst="rect">
            <a:avLst/>
          </a:prstGeom>
        </p:spPr>
        <p:txBody>
          <a:bodyPr anchor="t" rtlCol="false" tIns="0" lIns="0" bIns="0" rIns="0">
            <a:spAutoFit/>
          </a:bodyPr>
          <a:lstStyle/>
          <a:p>
            <a:pPr algn="ctr">
              <a:lnSpc>
                <a:spcPts val="5558"/>
              </a:lnSpc>
            </a:pPr>
            <a:r>
              <a:rPr lang="en-US" b="true" sz="3970">
                <a:solidFill>
                  <a:srgbClr val="004AAD"/>
                </a:solidFill>
                <a:latin typeface="League Spartan"/>
                <a:ea typeface="League Spartan"/>
                <a:cs typeface="League Spartan"/>
                <a:sym typeface="League Spartan"/>
              </a:rPr>
              <a:t>SMART SMS AND EMAIL REMINDER TIME- BASED TRIGGER FOR VETERINARY CLINIC FOLLOW - UP APPOINTMENT</a:t>
            </a:r>
          </a:p>
        </p:txBody>
      </p:sp>
    </p:spTree>
  </p:cSld>
  <p:clrMapOvr>
    <a:masterClrMapping/>
  </p:clrMapOvr>
  <p:transition spd="slow">
    <p:push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DAG6Az5itOk</dc:identifier>
  <dcterms:modified xsi:type="dcterms:W3CDTF">2011-08-01T06:04:30Z</dcterms:modified>
  <cp:revision>1</cp:revision>
  <dc:title>THESIS PRESENTATION </dc:title>
</cp:coreProperties>
</file>